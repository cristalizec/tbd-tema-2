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3" r:id="rId3"/>
    <p:sldId id="264" r:id="rId4"/>
    <p:sldId id="265" r:id="rId5"/>
    <p:sldId id="266" r:id="rId6"/>
    <p:sldId id="267" r:id="rId7"/>
    <p:sldId id="268" r:id="rId8"/>
    <p:sldId id="269" r:id="rId9"/>
    <p:sldId id="270" r:id="rId10"/>
    <p:sldId id="271" r:id="rId11"/>
    <p:sldId id="272" r:id="rId12"/>
    <p:sldId id="273" r:id="rId13"/>
    <p:sldId id="278" r:id="rId14"/>
    <p:sldId id="279" r:id="rId15"/>
    <p:sldId id="274" r:id="rId16"/>
    <p:sldId id="275" r:id="rId17"/>
    <p:sldId id="280" r:id="rId18"/>
    <p:sldId id="28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974" y="2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11D687-F9E2-4C98-9456-7DEB67C13D6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91A79E0A-2E80-429F-B3D8-13559173AE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011CCFD1-B1EB-462F-8C25-AD5E35E6398D}"/>
              </a:ext>
            </a:extLst>
          </p:cNvPr>
          <p:cNvSpPr>
            <a:spLocks noGrp="1"/>
          </p:cNvSpPr>
          <p:nvPr>
            <p:ph type="dt" sz="half" idx="10"/>
          </p:nvPr>
        </p:nvSpPr>
        <p:spPr/>
        <p:txBody>
          <a:bodyPr/>
          <a:lstStyle/>
          <a:p>
            <a:fld id="{CB04B9E6-3C45-4D8B-808F-9202BF3843BD}" type="datetimeFigureOut">
              <a:rPr lang="en-US" smtClean="0"/>
              <a:t>10/8/2026</a:t>
            </a:fld>
            <a:endParaRPr lang="en-US"/>
          </a:p>
        </p:txBody>
      </p:sp>
      <p:sp>
        <p:nvSpPr>
          <p:cNvPr id="5" name="Marcador de pie de página 4">
            <a:extLst>
              <a:ext uri="{FF2B5EF4-FFF2-40B4-BE49-F238E27FC236}">
                <a16:creationId xmlns:a16="http://schemas.microsoft.com/office/drawing/2014/main" id="{17282076-88AB-468B-87BA-49B98DA387A2}"/>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3C525976-ED35-437F-817E-1C362841B882}"/>
              </a:ext>
            </a:extLst>
          </p:cNvPr>
          <p:cNvSpPr>
            <a:spLocks noGrp="1"/>
          </p:cNvSpPr>
          <p:nvPr>
            <p:ph type="sldNum" sz="quarter" idx="12"/>
          </p:nvPr>
        </p:nvSpPr>
        <p:spPr/>
        <p:txBody>
          <a:bodyPr/>
          <a:lstStyle/>
          <a:p>
            <a:fld id="{72FB0A14-5A25-430F-9E7B-3126A04D3FE5}" type="slidenum">
              <a:rPr lang="en-US" smtClean="0"/>
              <a:t>‹Nº›</a:t>
            </a:fld>
            <a:endParaRPr lang="en-US"/>
          </a:p>
        </p:txBody>
      </p:sp>
    </p:spTree>
    <p:extLst>
      <p:ext uri="{BB962C8B-B14F-4D97-AF65-F5344CB8AC3E}">
        <p14:creationId xmlns:p14="http://schemas.microsoft.com/office/powerpoint/2010/main" val="4212370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FAFFC1-0D8A-46CC-93A2-DEF09B8A3F7F}"/>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8FCC5C7D-43A7-48BA-B862-B40E03A88C4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D3E8FE73-88EB-4B2A-BFC1-74E989E05545}"/>
              </a:ext>
            </a:extLst>
          </p:cNvPr>
          <p:cNvSpPr>
            <a:spLocks noGrp="1"/>
          </p:cNvSpPr>
          <p:nvPr>
            <p:ph type="dt" sz="half" idx="10"/>
          </p:nvPr>
        </p:nvSpPr>
        <p:spPr/>
        <p:txBody>
          <a:bodyPr/>
          <a:lstStyle/>
          <a:p>
            <a:fld id="{CB04B9E6-3C45-4D8B-808F-9202BF3843BD}" type="datetimeFigureOut">
              <a:rPr lang="en-US" smtClean="0"/>
              <a:t>10/8/2026</a:t>
            </a:fld>
            <a:endParaRPr lang="en-US"/>
          </a:p>
        </p:txBody>
      </p:sp>
      <p:sp>
        <p:nvSpPr>
          <p:cNvPr id="5" name="Marcador de pie de página 4">
            <a:extLst>
              <a:ext uri="{FF2B5EF4-FFF2-40B4-BE49-F238E27FC236}">
                <a16:creationId xmlns:a16="http://schemas.microsoft.com/office/drawing/2014/main" id="{2AFD0B96-2E81-4C3B-BF46-4C4A573E2A73}"/>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CBFA161E-BE2F-4EC3-AEEC-1F87CD3942F7}"/>
              </a:ext>
            </a:extLst>
          </p:cNvPr>
          <p:cNvSpPr>
            <a:spLocks noGrp="1"/>
          </p:cNvSpPr>
          <p:nvPr>
            <p:ph type="sldNum" sz="quarter" idx="12"/>
          </p:nvPr>
        </p:nvSpPr>
        <p:spPr/>
        <p:txBody>
          <a:bodyPr/>
          <a:lstStyle/>
          <a:p>
            <a:fld id="{72FB0A14-5A25-430F-9E7B-3126A04D3FE5}" type="slidenum">
              <a:rPr lang="en-US" smtClean="0"/>
              <a:t>‹Nº›</a:t>
            </a:fld>
            <a:endParaRPr lang="en-US"/>
          </a:p>
        </p:txBody>
      </p:sp>
    </p:spTree>
    <p:extLst>
      <p:ext uri="{BB962C8B-B14F-4D97-AF65-F5344CB8AC3E}">
        <p14:creationId xmlns:p14="http://schemas.microsoft.com/office/powerpoint/2010/main" val="380621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B51C91-7E86-4135-AC9D-77A299E9FB6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CFB85ADF-6FC9-4B1A-A676-0E6304B7A2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57ABEE2-7D8D-46BE-ACF0-E48CD3130FA3}"/>
              </a:ext>
            </a:extLst>
          </p:cNvPr>
          <p:cNvSpPr>
            <a:spLocks noGrp="1"/>
          </p:cNvSpPr>
          <p:nvPr>
            <p:ph type="dt" sz="half" idx="10"/>
          </p:nvPr>
        </p:nvSpPr>
        <p:spPr/>
        <p:txBody>
          <a:bodyPr/>
          <a:lstStyle/>
          <a:p>
            <a:fld id="{CB04B9E6-3C45-4D8B-808F-9202BF3843BD}" type="datetimeFigureOut">
              <a:rPr lang="en-US" smtClean="0"/>
              <a:t>10/8/2026</a:t>
            </a:fld>
            <a:endParaRPr lang="en-US"/>
          </a:p>
        </p:txBody>
      </p:sp>
      <p:sp>
        <p:nvSpPr>
          <p:cNvPr id="5" name="Marcador de pie de página 4">
            <a:extLst>
              <a:ext uri="{FF2B5EF4-FFF2-40B4-BE49-F238E27FC236}">
                <a16:creationId xmlns:a16="http://schemas.microsoft.com/office/drawing/2014/main" id="{1065143B-E1A2-4222-B237-DDEE06A278EF}"/>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36CC11BC-5CEE-4A9E-B51D-A393BA4C9BB6}"/>
              </a:ext>
            </a:extLst>
          </p:cNvPr>
          <p:cNvSpPr>
            <a:spLocks noGrp="1"/>
          </p:cNvSpPr>
          <p:nvPr>
            <p:ph type="sldNum" sz="quarter" idx="12"/>
          </p:nvPr>
        </p:nvSpPr>
        <p:spPr/>
        <p:txBody>
          <a:bodyPr/>
          <a:lstStyle/>
          <a:p>
            <a:fld id="{72FB0A14-5A25-430F-9E7B-3126A04D3FE5}" type="slidenum">
              <a:rPr lang="en-US" smtClean="0"/>
              <a:t>‹Nº›</a:t>
            </a:fld>
            <a:endParaRPr lang="en-US"/>
          </a:p>
        </p:txBody>
      </p:sp>
    </p:spTree>
    <p:extLst>
      <p:ext uri="{BB962C8B-B14F-4D97-AF65-F5344CB8AC3E}">
        <p14:creationId xmlns:p14="http://schemas.microsoft.com/office/powerpoint/2010/main" val="1219047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1F0FEF-FFB5-49B0-B463-FF501DD827E0}"/>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8143AD7D-7CBA-48BC-AD4A-1E7262D10E2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356C6280-B292-41CB-B44E-79911C15C52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E2E5C537-4446-47C3-A9D3-00A08B9DF645}"/>
              </a:ext>
            </a:extLst>
          </p:cNvPr>
          <p:cNvSpPr>
            <a:spLocks noGrp="1"/>
          </p:cNvSpPr>
          <p:nvPr>
            <p:ph type="dt" sz="half" idx="10"/>
          </p:nvPr>
        </p:nvSpPr>
        <p:spPr/>
        <p:txBody>
          <a:bodyPr/>
          <a:lstStyle/>
          <a:p>
            <a:fld id="{CB04B9E6-3C45-4D8B-808F-9202BF3843BD}" type="datetimeFigureOut">
              <a:rPr lang="en-US" smtClean="0"/>
              <a:t>10/8/2026</a:t>
            </a:fld>
            <a:endParaRPr lang="en-US"/>
          </a:p>
        </p:txBody>
      </p:sp>
      <p:sp>
        <p:nvSpPr>
          <p:cNvPr id="6" name="Marcador de pie de página 5">
            <a:extLst>
              <a:ext uri="{FF2B5EF4-FFF2-40B4-BE49-F238E27FC236}">
                <a16:creationId xmlns:a16="http://schemas.microsoft.com/office/drawing/2014/main" id="{F456F5A1-30C3-41A0-9B14-5F4B565980A8}"/>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02E44F0F-D1AF-45B8-9B81-447F8D774628}"/>
              </a:ext>
            </a:extLst>
          </p:cNvPr>
          <p:cNvSpPr>
            <a:spLocks noGrp="1"/>
          </p:cNvSpPr>
          <p:nvPr>
            <p:ph type="sldNum" sz="quarter" idx="12"/>
          </p:nvPr>
        </p:nvSpPr>
        <p:spPr/>
        <p:txBody>
          <a:bodyPr/>
          <a:lstStyle/>
          <a:p>
            <a:fld id="{72FB0A14-5A25-430F-9E7B-3126A04D3FE5}" type="slidenum">
              <a:rPr lang="en-US" smtClean="0"/>
              <a:t>‹Nº›</a:t>
            </a:fld>
            <a:endParaRPr lang="en-US"/>
          </a:p>
        </p:txBody>
      </p:sp>
    </p:spTree>
    <p:extLst>
      <p:ext uri="{BB962C8B-B14F-4D97-AF65-F5344CB8AC3E}">
        <p14:creationId xmlns:p14="http://schemas.microsoft.com/office/powerpoint/2010/main" val="2216983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E9B38F-40F6-422B-8446-0773B393673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F0961891-4E02-4785-A5D9-9335634953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5C3759E-D179-489E-84F3-1226E6B0F88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3AEEB632-89C9-428C-9F6A-A7FF15CD87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32DD912-1862-432A-8E77-206F0976282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48D72F8C-A8DF-42DB-989C-9CF39E7E9424}"/>
              </a:ext>
            </a:extLst>
          </p:cNvPr>
          <p:cNvSpPr>
            <a:spLocks noGrp="1"/>
          </p:cNvSpPr>
          <p:nvPr>
            <p:ph type="dt" sz="half" idx="10"/>
          </p:nvPr>
        </p:nvSpPr>
        <p:spPr/>
        <p:txBody>
          <a:bodyPr/>
          <a:lstStyle/>
          <a:p>
            <a:fld id="{CB04B9E6-3C45-4D8B-808F-9202BF3843BD}" type="datetimeFigureOut">
              <a:rPr lang="en-US" smtClean="0"/>
              <a:t>10/8/2026</a:t>
            </a:fld>
            <a:endParaRPr lang="en-US"/>
          </a:p>
        </p:txBody>
      </p:sp>
      <p:sp>
        <p:nvSpPr>
          <p:cNvPr id="8" name="Marcador de pie de página 7">
            <a:extLst>
              <a:ext uri="{FF2B5EF4-FFF2-40B4-BE49-F238E27FC236}">
                <a16:creationId xmlns:a16="http://schemas.microsoft.com/office/drawing/2014/main" id="{6B6483EF-366E-4409-B744-D5B4C125B46D}"/>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1D418525-1AA7-49A2-8EFF-29944F85A4AA}"/>
              </a:ext>
            </a:extLst>
          </p:cNvPr>
          <p:cNvSpPr>
            <a:spLocks noGrp="1"/>
          </p:cNvSpPr>
          <p:nvPr>
            <p:ph type="sldNum" sz="quarter" idx="12"/>
          </p:nvPr>
        </p:nvSpPr>
        <p:spPr/>
        <p:txBody>
          <a:bodyPr/>
          <a:lstStyle/>
          <a:p>
            <a:fld id="{72FB0A14-5A25-430F-9E7B-3126A04D3FE5}" type="slidenum">
              <a:rPr lang="en-US" smtClean="0"/>
              <a:t>‹Nº›</a:t>
            </a:fld>
            <a:endParaRPr lang="en-US"/>
          </a:p>
        </p:txBody>
      </p:sp>
    </p:spTree>
    <p:extLst>
      <p:ext uri="{BB962C8B-B14F-4D97-AF65-F5344CB8AC3E}">
        <p14:creationId xmlns:p14="http://schemas.microsoft.com/office/powerpoint/2010/main" val="1474611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D5B1B7-9F14-4E31-B18D-299CD6EC22EA}"/>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CC867F97-DC5E-4161-B567-FF8698C8BA3B}"/>
              </a:ext>
            </a:extLst>
          </p:cNvPr>
          <p:cNvSpPr>
            <a:spLocks noGrp="1"/>
          </p:cNvSpPr>
          <p:nvPr>
            <p:ph type="dt" sz="half" idx="10"/>
          </p:nvPr>
        </p:nvSpPr>
        <p:spPr/>
        <p:txBody>
          <a:bodyPr/>
          <a:lstStyle/>
          <a:p>
            <a:fld id="{CB04B9E6-3C45-4D8B-808F-9202BF3843BD}" type="datetimeFigureOut">
              <a:rPr lang="en-US" smtClean="0"/>
              <a:t>10/8/2026</a:t>
            </a:fld>
            <a:endParaRPr lang="en-US"/>
          </a:p>
        </p:txBody>
      </p:sp>
      <p:sp>
        <p:nvSpPr>
          <p:cNvPr id="4" name="Marcador de pie de página 3">
            <a:extLst>
              <a:ext uri="{FF2B5EF4-FFF2-40B4-BE49-F238E27FC236}">
                <a16:creationId xmlns:a16="http://schemas.microsoft.com/office/drawing/2014/main" id="{59150187-F778-45DC-9939-197D23E57EEF}"/>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65D480C7-4DA8-455D-9E6D-039C91896594}"/>
              </a:ext>
            </a:extLst>
          </p:cNvPr>
          <p:cNvSpPr>
            <a:spLocks noGrp="1"/>
          </p:cNvSpPr>
          <p:nvPr>
            <p:ph type="sldNum" sz="quarter" idx="12"/>
          </p:nvPr>
        </p:nvSpPr>
        <p:spPr/>
        <p:txBody>
          <a:bodyPr/>
          <a:lstStyle/>
          <a:p>
            <a:fld id="{72FB0A14-5A25-430F-9E7B-3126A04D3FE5}" type="slidenum">
              <a:rPr lang="en-US" smtClean="0"/>
              <a:t>‹Nº›</a:t>
            </a:fld>
            <a:endParaRPr lang="en-US"/>
          </a:p>
        </p:txBody>
      </p:sp>
    </p:spTree>
    <p:extLst>
      <p:ext uri="{BB962C8B-B14F-4D97-AF65-F5344CB8AC3E}">
        <p14:creationId xmlns:p14="http://schemas.microsoft.com/office/powerpoint/2010/main" val="76951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9871E3E-84D6-40A0-BA5E-1E3A95042AFA}"/>
              </a:ext>
            </a:extLst>
          </p:cNvPr>
          <p:cNvSpPr>
            <a:spLocks noGrp="1"/>
          </p:cNvSpPr>
          <p:nvPr>
            <p:ph type="dt" sz="half" idx="10"/>
          </p:nvPr>
        </p:nvSpPr>
        <p:spPr/>
        <p:txBody>
          <a:bodyPr/>
          <a:lstStyle/>
          <a:p>
            <a:fld id="{CB04B9E6-3C45-4D8B-808F-9202BF3843BD}" type="datetimeFigureOut">
              <a:rPr lang="en-US" smtClean="0"/>
              <a:t>10/8/2026</a:t>
            </a:fld>
            <a:endParaRPr lang="en-US"/>
          </a:p>
        </p:txBody>
      </p:sp>
      <p:sp>
        <p:nvSpPr>
          <p:cNvPr id="3" name="Marcador de pie de página 2">
            <a:extLst>
              <a:ext uri="{FF2B5EF4-FFF2-40B4-BE49-F238E27FC236}">
                <a16:creationId xmlns:a16="http://schemas.microsoft.com/office/drawing/2014/main" id="{2091B9F4-DC7B-455E-8653-FA379C846709}"/>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8DB0730A-E429-4B9A-8C87-1E205CA06A0B}"/>
              </a:ext>
            </a:extLst>
          </p:cNvPr>
          <p:cNvSpPr>
            <a:spLocks noGrp="1"/>
          </p:cNvSpPr>
          <p:nvPr>
            <p:ph type="sldNum" sz="quarter" idx="12"/>
          </p:nvPr>
        </p:nvSpPr>
        <p:spPr/>
        <p:txBody>
          <a:bodyPr/>
          <a:lstStyle/>
          <a:p>
            <a:fld id="{72FB0A14-5A25-430F-9E7B-3126A04D3FE5}" type="slidenum">
              <a:rPr lang="en-US" smtClean="0"/>
              <a:t>‹Nº›</a:t>
            </a:fld>
            <a:endParaRPr lang="en-US"/>
          </a:p>
        </p:txBody>
      </p:sp>
    </p:spTree>
    <p:extLst>
      <p:ext uri="{BB962C8B-B14F-4D97-AF65-F5344CB8AC3E}">
        <p14:creationId xmlns:p14="http://schemas.microsoft.com/office/powerpoint/2010/main" val="3454031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038D51-7D6C-4791-B3B3-49F045DD557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4270E34F-1F9F-433E-B917-AB57AE34E5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A86C62F8-CB1D-458A-8F50-6680F39CE3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EEC7ED2-31CF-4C7A-A473-E40B025023B0}"/>
              </a:ext>
            </a:extLst>
          </p:cNvPr>
          <p:cNvSpPr>
            <a:spLocks noGrp="1"/>
          </p:cNvSpPr>
          <p:nvPr>
            <p:ph type="dt" sz="half" idx="10"/>
          </p:nvPr>
        </p:nvSpPr>
        <p:spPr/>
        <p:txBody>
          <a:bodyPr/>
          <a:lstStyle/>
          <a:p>
            <a:fld id="{CB04B9E6-3C45-4D8B-808F-9202BF3843BD}" type="datetimeFigureOut">
              <a:rPr lang="en-US" smtClean="0"/>
              <a:t>10/8/2026</a:t>
            </a:fld>
            <a:endParaRPr lang="en-US"/>
          </a:p>
        </p:txBody>
      </p:sp>
      <p:sp>
        <p:nvSpPr>
          <p:cNvPr id="6" name="Marcador de pie de página 5">
            <a:extLst>
              <a:ext uri="{FF2B5EF4-FFF2-40B4-BE49-F238E27FC236}">
                <a16:creationId xmlns:a16="http://schemas.microsoft.com/office/drawing/2014/main" id="{E4EE3139-952F-48DE-88C6-AD93D9C79FC1}"/>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B4AD4AAA-FFCA-431F-9655-C2B1BE57F8FF}"/>
              </a:ext>
            </a:extLst>
          </p:cNvPr>
          <p:cNvSpPr>
            <a:spLocks noGrp="1"/>
          </p:cNvSpPr>
          <p:nvPr>
            <p:ph type="sldNum" sz="quarter" idx="12"/>
          </p:nvPr>
        </p:nvSpPr>
        <p:spPr/>
        <p:txBody>
          <a:bodyPr/>
          <a:lstStyle/>
          <a:p>
            <a:fld id="{72FB0A14-5A25-430F-9E7B-3126A04D3FE5}" type="slidenum">
              <a:rPr lang="en-US" smtClean="0"/>
              <a:t>‹Nº›</a:t>
            </a:fld>
            <a:endParaRPr lang="en-US"/>
          </a:p>
        </p:txBody>
      </p:sp>
    </p:spTree>
    <p:extLst>
      <p:ext uri="{BB962C8B-B14F-4D97-AF65-F5344CB8AC3E}">
        <p14:creationId xmlns:p14="http://schemas.microsoft.com/office/powerpoint/2010/main" val="727145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D1DF0D-9AAE-4A7A-99D4-00AA4A260FE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1352CBAA-0E7E-44C1-B48D-8C9DE43DC7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AE790CE9-7442-4CDE-AB19-92DDFD9CB2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577E215-10B7-4E37-AA79-34F7A228BD79}"/>
              </a:ext>
            </a:extLst>
          </p:cNvPr>
          <p:cNvSpPr>
            <a:spLocks noGrp="1"/>
          </p:cNvSpPr>
          <p:nvPr>
            <p:ph type="dt" sz="half" idx="10"/>
          </p:nvPr>
        </p:nvSpPr>
        <p:spPr/>
        <p:txBody>
          <a:bodyPr/>
          <a:lstStyle/>
          <a:p>
            <a:fld id="{CB04B9E6-3C45-4D8B-808F-9202BF3843BD}" type="datetimeFigureOut">
              <a:rPr lang="en-US" smtClean="0"/>
              <a:t>10/8/2026</a:t>
            </a:fld>
            <a:endParaRPr lang="en-US"/>
          </a:p>
        </p:txBody>
      </p:sp>
      <p:sp>
        <p:nvSpPr>
          <p:cNvPr id="6" name="Marcador de pie de página 5">
            <a:extLst>
              <a:ext uri="{FF2B5EF4-FFF2-40B4-BE49-F238E27FC236}">
                <a16:creationId xmlns:a16="http://schemas.microsoft.com/office/drawing/2014/main" id="{C1962D5C-CB46-4E78-BD9F-CF043E135B06}"/>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052A30BC-CFB5-45C7-9911-991564254513}"/>
              </a:ext>
            </a:extLst>
          </p:cNvPr>
          <p:cNvSpPr>
            <a:spLocks noGrp="1"/>
          </p:cNvSpPr>
          <p:nvPr>
            <p:ph type="sldNum" sz="quarter" idx="12"/>
          </p:nvPr>
        </p:nvSpPr>
        <p:spPr/>
        <p:txBody>
          <a:bodyPr/>
          <a:lstStyle/>
          <a:p>
            <a:fld id="{72FB0A14-5A25-430F-9E7B-3126A04D3FE5}" type="slidenum">
              <a:rPr lang="en-US" smtClean="0"/>
              <a:t>‹Nº›</a:t>
            </a:fld>
            <a:endParaRPr lang="en-US"/>
          </a:p>
        </p:txBody>
      </p:sp>
    </p:spTree>
    <p:extLst>
      <p:ext uri="{BB962C8B-B14F-4D97-AF65-F5344CB8AC3E}">
        <p14:creationId xmlns:p14="http://schemas.microsoft.com/office/powerpoint/2010/main" val="1131235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603DF5-48F3-4D46-BF28-CC0B5BD5D9F1}"/>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8B97CF19-E126-4893-8A38-4057A72D6BF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E744BAAE-62DC-4768-B579-DBB8EAB94EC3}"/>
              </a:ext>
            </a:extLst>
          </p:cNvPr>
          <p:cNvSpPr>
            <a:spLocks noGrp="1"/>
          </p:cNvSpPr>
          <p:nvPr>
            <p:ph type="dt" sz="half" idx="10"/>
          </p:nvPr>
        </p:nvSpPr>
        <p:spPr/>
        <p:txBody>
          <a:bodyPr/>
          <a:lstStyle/>
          <a:p>
            <a:fld id="{CB04B9E6-3C45-4D8B-808F-9202BF3843BD}" type="datetimeFigureOut">
              <a:rPr lang="en-US" smtClean="0"/>
              <a:t>10/8/2026</a:t>
            </a:fld>
            <a:endParaRPr lang="en-US"/>
          </a:p>
        </p:txBody>
      </p:sp>
      <p:sp>
        <p:nvSpPr>
          <p:cNvPr id="5" name="Marcador de pie de página 4">
            <a:extLst>
              <a:ext uri="{FF2B5EF4-FFF2-40B4-BE49-F238E27FC236}">
                <a16:creationId xmlns:a16="http://schemas.microsoft.com/office/drawing/2014/main" id="{DD94CFC6-95C2-4575-82FC-4B3760CA81FC}"/>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4771DA15-B880-4285-A850-6E260C49C617}"/>
              </a:ext>
            </a:extLst>
          </p:cNvPr>
          <p:cNvSpPr>
            <a:spLocks noGrp="1"/>
          </p:cNvSpPr>
          <p:nvPr>
            <p:ph type="sldNum" sz="quarter" idx="12"/>
          </p:nvPr>
        </p:nvSpPr>
        <p:spPr/>
        <p:txBody>
          <a:bodyPr/>
          <a:lstStyle/>
          <a:p>
            <a:fld id="{72FB0A14-5A25-430F-9E7B-3126A04D3FE5}" type="slidenum">
              <a:rPr lang="en-US" smtClean="0"/>
              <a:t>‹Nº›</a:t>
            </a:fld>
            <a:endParaRPr lang="en-US"/>
          </a:p>
        </p:txBody>
      </p:sp>
    </p:spTree>
    <p:extLst>
      <p:ext uri="{BB962C8B-B14F-4D97-AF65-F5344CB8AC3E}">
        <p14:creationId xmlns:p14="http://schemas.microsoft.com/office/powerpoint/2010/main" val="1613847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615F58E-C980-496F-82CF-C8D86FC57B0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335E1903-B0A2-4C5D-AE26-7B45DC1D628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7CAD79E7-BFD8-4063-A536-4F3FB4DFA6EF}"/>
              </a:ext>
            </a:extLst>
          </p:cNvPr>
          <p:cNvSpPr>
            <a:spLocks noGrp="1"/>
          </p:cNvSpPr>
          <p:nvPr>
            <p:ph type="dt" sz="half" idx="10"/>
          </p:nvPr>
        </p:nvSpPr>
        <p:spPr/>
        <p:txBody>
          <a:bodyPr/>
          <a:lstStyle/>
          <a:p>
            <a:fld id="{CB04B9E6-3C45-4D8B-808F-9202BF3843BD}" type="datetimeFigureOut">
              <a:rPr lang="en-US" smtClean="0"/>
              <a:t>10/8/2026</a:t>
            </a:fld>
            <a:endParaRPr lang="en-US"/>
          </a:p>
        </p:txBody>
      </p:sp>
      <p:sp>
        <p:nvSpPr>
          <p:cNvPr id="5" name="Marcador de pie de página 4">
            <a:extLst>
              <a:ext uri="{FF2B5EF4-FFF2-40B4-BE49-F238E27FC236}">
                <a16:creationId xmlns:a16="http://schemas.microsoft.com/office/drawing/2014/main" id="{30AD0D80-E883-420B-97FF-408A1FD30726}"/>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FA2C61AF-3FAB-4CF6-AABB-75DF9E2E3EE6}"/>
              </a:ext>
            </a:extLst>
          </p:cNvPr>
          <p:cNvSpPr>
            <a:spLocks noGrp="1"/>
          </p:cNvSpPr>
          <p:nvPr>
            <p:ph type="sldNum" sz="quarter" idx="12"/>
          </p:nvPr>
        </p:nvSpPr>
        <p:spPr/>
        <p:txBody>
          <a:bodyPr/>
          <a:lstStyle/>
          <a:p>
            <a:fld id="{72FB0A14-5A25-430F-9E7B-3126A04D3FE5}" type="slidenum">
              <a:rPr lang="en-US" smtClean="0"/>
              <a:t>‹Nº›</a:t>
            </a:fld>
            <a:endParaRPr lang="en-US"/>
          </a:p>
        </p:txBody>
      </p:sp>
    </p:spTree>
    <p:extLst>
      <p:ext uri="{BB962C8B-B14F-4D97-AF65-F5344CB8AC3E}">
        <p14:creationId xmlns:p14="http://schemas.microsoft.com/office/powerpoint/2010/main" val="608639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4F6884-2139-43D3-8002-620242667D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8386D7E4-7950-4B5C-B76D-0ACC0ED70E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8F8F8650-B6A1-43CC-AF28-2EEB3FA009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04B9E6-3C45-4D8B-808F-9202BF3843BD}" type="datetimeFigureOut">
              <a:rPr lang="en-US" smtClean="0"/>
              <a:t>10/8/2026</a:t>
            </a:fld>
            <a:endParaRPr lang="en-US"/>
          </a:p>
        </p:txBody>
      </p:sp>
      <p:sp>
        <p:nvSpPr>
          <p:cNvPr id="5" name="Marcador de pie de página 4">
            <a:extLst>
              <a:ext uri="{FF2B5EF4-FFF2-40B4-BE49-F238E27FC236}">
                <a16:creationId xmlns:a16="http://schemas.microsoft.com/office/drawing/2014/main" id="{12EE9CFE-6133-455F-89A0-8C45DEC7FB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DAFA3904-984B-4260-9F50-B74E9A01C0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FB0A14-5A25-430F-9E7B-3126A04D3FE5}" type="slidenum">
              <a:rPr lang="en-US" smtClean="0"/>
              <a:t>‹Nº›</a:t>
            </a:fld>
            <a:endParaRPr lang="en-US"/>
          </a:p>
        </p:txBody>
      </p:sp>
    </p:spTree>
    <p:extLst>
      <p:ext uri="{BB962C8B-B14F-4D97-AF65-F5344CB8AC3E}">
        <p14:creationId xmlns:p14="http://schemas.microsoft.com/office/powerpoint/2010/main" val="1350170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hyperlink" Target="http://localhost:3000/api/producto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www.pgadmin.org/docs/" TargetMode="External"/><Relationship Id="rId3" Type="http://schemas.openxmlformats.org/officeDocument/2006/relationships/hyperlink" Target="https://nodejs.org/docs/latest/api/" TargetMode="External"/><Relationship Id="rId7" Type="http://schemas.openxmlformats.org/officeDocument/2006/relationships/hyperlink" Target="https://www.postgresql.org/docs/" TargetMode="External"/><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hyperlink" Target="https://docs.usebruno.com/" TargetMode="External"/><Relationship Id="rId5" Type="http://schemas.openxmlformats.org/officeDocument/2006/relationships/hyperlink" Target="https://docs.spring.io/spring-boot/" TargetMode="External"/><Relationship Id="rId4" Type="http://schemas.openxmlformats.org/officeDocument/2006/relationships/hyperlink" Target="https://expressjs.com/es/guide/routing.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EB55A-9E1F-8D29-0DCB-C47BC4F389BA}"/>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D959DC9C-D120-BB42-C76E-04D768E9B672}"/>
              </a:ext>
            </a:extLst>
          </p:cNvPr>
          <p:cNvPicPr>
            <a:picLocks noChangeAspect="1"/>
          </p:cNvPicPr>
          <p:nvPr/>
        </p:nvPicPr>
        <p:blipFill>
          <a:blip r:embed="rId2"/>
          <a:stretch>
            <a:fillRect/>
          </a:stretch>
        </p:blipFill>
        <p:spPr>
          <a:xfrm>
            <a:off x="-1" y="0"/>
            <a:ext cx="12192001" cy="6883502"/>
          </a:xfrm>
          <a:prstGeom prst="rect">
            <a:avLst/>
          </a:prstGeom>
        </p:spPr>
      </p:pic>
      <p:sp>
        <p:nvSpPr>
          <p:cNvPr id="10" name="CuadroTexto 9">
            <a:extLst>
              <a:ext uri="{FF2B5EF4-FFF2-40B4-BE49-F238E27FC236}">
                <a16:creationId xmlns:a16="http://schemas.microsoft.com/office/drawing/2014/main" id="{FEAF6B11-374C-1FAD-7A54-8CF665967FFB}"/>
              </a:ext>
            </a:extLst>
          </p:cNvPr>
          <p:cNvSpPr txBox="1"/>
          <p:nvPr/>
        </p:nvSpPr>
        <p:spPr>
          <a:xfrm>
            <a:off x="1624007" y="1551303"/>
            <a:ext cx="8438293" cy="5094985"/>
          </a:xfrm>
          <a:prstGeom prst="rect">
            <a:avLst/>
          </a:prstGeom>
          <a:noFill/>
        </p:spPr>
        <p:txBody>
          <a:bodyPr wrap="square">
            <a:spAutoFit/>
          </a:bodyPr>
          <a:lstStyle/>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TECNOLOGICO NACIONAL DE MEXICO</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INSTITUTO TECNOLOGICO DE FRONTERA COMALAPA </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CARRERA</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dirty="0">
                <a:effectLst/>
                <a:latin typeface="Calibri" panose="020F0502020204030204" pitchFamily="34" charset="0"/>
                <a:ea typeface="Calibri" panose="020F0502020204030204" pitchFamily="34" charset="0"/>
                <a:cs typeface="Times New Roman" panose="02020603050405020304" pitchFamily="18" charset="0"/>
              </a:rPr>
              <a:t>INGENIERIA EN SISTEMAS COMPUTACIONALES</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MATERIA </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dirty="0">
                <a:effectLst/>
                <a:latin typeface="Calibri" panose="020F0502020204030204" pitchFamily="34" charset="0"/>
                <a:ea typeface="Calibri" panose="020F0502020204030204" pitchFamily="34" charset="0"/>
                <a:cs typeface="Times New Roman" panose="02020603050405020304" pitchFamily="18" charset="0"/>
              </a:rPr>
              <a:t>TALLER DE BASE DE DATOS</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TRABAJO</a:t>
            </a:r>
          </a:p>
          <a:p>
            <a:pPr algn="ctr">
              <a:lnSpc>
                <a:spcPct val="107000"/>
              </a:lnSpc>
              <a:spcAft>
                <a:spcPts val="800"/>
              </a:spcAft>
              <a:buNone/>
            </a:pPr>
            <a:r>
              <a:rPr lang="es-MX" sz="1400" dirty="0">
                <a:latin typeface="Calibri" panose="020F0502020204030204" pitchFamily="34" charset="0"/>
                <a:ea typeface="Calibri" panose="020F0502020204030204" pitchFamily="34" charset="0"/>
                <a:cs typeface="Times New Roman" panose="02020603050405020304" pitchFamily="18" charset="0"/>
              </a:rPr>
              <a:t>ACTIVIDAD 2.2 BANCO DE EJERCICIOS</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CATEDRATICO</a:t>
            </a:r>
          </a:p>
          <a:p>
            <a:pPr algn="ctr">
              <a:lnSpc>
                <a:spcPct val="107000"/>
              </a:lnSpc>
              <a:spcAft>
                <a:spcPts val="800"/>
              </a:spcAft>
            </a:pPr>
            <a:r>
              <a:rPr lang="es-ES" altLang="es-MX" sz="1400" dirty="0">
                <a:latin typeface="Calibri" panose="020F0502020204030204" pitchFamily="34" charset="0"/>
                <a:ea typeface="Calibri" panose="020F0502020204030204" pitchFamily="34" charset="0"/>
                <a:cs typeface="Calibri" panose="020F0502020204030204" pitchFamily="34" charset="0"/>
              </a:rPr>
              <a:t>ING. FRANCISCO JAVIER MINGO VELAZQUEZ </a:t>
            </a:r>
            <a:endParaRPr lang="es-MX" sz="1400"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ESTUDIANTE </a:t>
            </a:r>
          </a:p>
          <a:p>
            <a:pPr lvl="0" algn="ctr" defTabSz="914400" eaLnBrk="0" fontAlgn="base" hangingPunct="0">
              <a:spcBef>
                <a:spcPct val="0"/>
              </a:spcBef>
              <a:spcAft>
                <a:spcPct val="0"/>
              </a:spcAft>
            </a:pPr>
            <a:r>
              <a:rPr lang="es-MX" altLang="es-MX" sz="1400" dirty="0">
                <a:latin typeface="Calibri" panose="020F0502020204030204" pitchFamily="34" charset="0"/>
                <a:ea typeface="Calibri" panose="020F0502020204030204" pitchFamily="34" charset="0"/>
                <a:cs typeface="Calibri" panose="020F0502020204030204" pitchFamily="34" charset="0"/>
              </a:rPr>
              <a:t>AMILCAR AEJANDRO CORONA ESCOBAR - 2412600074</a:t>
            </a:r>
            <a:endParaRPr lang="es-MX" sz="1400"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SEMESTRE </a:t>
            </a:r>
            <a:r>
              <a:rPr lang="es-MX" sz="1100" b="1" dirty="0">
                <a:effectLst/>
                <a:latin typeface="Calibri" panose="020F0502020204030204" pitchFamily="34" charset="0"/>
                <a:ea typeface="Calibri" panose="020F0502020204030204" pitchFamily="34" charset="0"/>
                <a:cs typeface="Times New Roman" panose="02020603050405020304" pitchFamily="18" charset="0"/>
              </a:rPr>
              <a:t>:</a:t>
            </a:r>
            <a:r>
              <a:rPr lang="es-MX" sz="1100" b="1" dirty="0">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buNone/>
            </a:pPr>
            <a:r>
              <a:rPr lang="es-MX" sz="1100" b="1" dirty="0">
                <a:effectLst/>
                <a:latin typeface="Calibri" panose="020F0502020204030204" pitchFamily="34" charset="0"/>
                <a:ea typeface="Calibri" panose="020F0502020204030204" pitchFamily="34" charset="0"/>
                <a:cs typeface="Times New Roman" panose="02020603050405020304" pitchFamily="18" charset="0"/>
              </a:rPr>
              <a:t>5</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400" b="1" dirty="0">
                <a:effectLst/>
                <a:latin typeface="Calibri" panose="020F0502020204030204" pitchFamily="34" charset="0"/>
                <a:ea typeface="Calibri" panose="020F0502020204030204" pitchFamily="34" charset="0"/>
                <a:cs typeface="Times New Roman" panose="02020603050405020304" pitchFamily="18" charset="0"/>
              </a:rPr>
              <a:t>FRONTERA COMALAPA FECHA DE ENTREGA:</a:t>
            </a:r>
            <a:r>
              <a:rPr lang="es-MX" sz="1100" b="1" dirty="0">
                <a:effectLst/>
                <a:latin typeface="Calibri" panose="020F0502020204030204" pitchFamily="34" charset="0"/>
                <a:ea typeface="Calibri" panose="020F0502020204030204" pitchFamily="34" charset="0"/>
                <a:cs typeface="Times New Roman" panose="02020603050405020304" pitchFamily="18" charset="0"/>
              </a:rPr>
              <a:t> </a:t>
            </a:r>
            <a:r>
              <a:rPr lang="es-ES" sz="1100" b="1" dirty="0">
                <a:effectLst/>
                <a:latin typeface="Arial" panose="020B0604020202020204" pitchFamily="34" charset="0"/>
                <a:ea typeface="Calibri" panose="020F0502020204030204" pitchFamily="34" charset="0"/>
                <a:cs typeface="Arial" panose="020B0604020202020204" pitchFamily="34" charset="0"/>
              </a:rPr>
              <a:t>14 DE </a:t>
            </a:r>
            <a:r>
              <a:rPr lang="es-ES" sz="1100" b="1" dirty="0">
                <a:latin typeface="Arial" panose="020B0604020202020204" pitchFamily="34" charset="0"/>
                <a:ea typeface="Calibri" panose="020F0502020204030204" pitchFamily="34" charset="0"/>
                <a:cs typeface="Arial" panose="020B0604020202020204" pitchFamily="34" charset="0"/>
              </a:rPr>
              <a:t>SEPTIEMBRE</a:t>
            </a:r>
            <a:r>
              <a:rPr lang="es-ES" sz="1100" b="1" dirty="0">
                <a:effectLst/>
                <a:latin typeface="Arial" panose="020B0604020202020204" pitchFamily="34" charset="0"/>
                <a:ea typeface="Calibri" panose="020F0502020204030204" pitchFamily="34" charset="0"/>
                <a:cs typeface="Arial" panose="020B0604020202020204" pitchFamily="34" charset="0"/>
              </a:rPr>
              <a:t> DEL 2026</a:t>
            </a:r>
            <a:endParaRPr lang="es-MX" altLang="es-MX" sz="1100" dirty="0">
              <a:latin typeface="Arial" panose="020B0604020202020204" pitchFamily="34" charset="0"/>
              <a:cs typeface="Arial" panose="020B0604020202020204" pitchFamily="34" charset="0"/>
            </a:endParaRPr>
          </a:p>
          <a:p>
            <a:pPr algn="ctr">
              <a:lnSpc>
                <a:spcPct val="107000"/>
              </a:lnSpc>
              <a:spcAft>
                <a:spcPts val="800"/>
              </a:spcAft>
              <a:buNone/>
            </a:pP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Imagen 11" descr="Secretaría de Educación Pública | Secretaría de Educación ...">
            <a:extLst>
              <a:ext uri="{FF2B5EF4-FFF2-40B4-BE49-F238E27FC236}">
                <a16:creationId xmlns:a16="http://schemas.microsoft.com/office/drawing/2014/main" id="{EFECA14D-D8FE-EF74-7C06-2DF34B28693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692" b="89868" l="2338" r="96104">
                        <a14:foregroundMark x1="12208" y1="37885" x2="48312" y2="32599"/>
                        <a14:foregroundMark x1="48312" y1="32599" x2="29610" y2="48018"/>
                        <a14:foregroundMark x1="29610" y1="48018" x2="56364" y2="33480"/>
                        <a14:foregroundMark x1="56364" y1="33480" x2="83896" y2="40529"/>
                        <a14:foregroundMark x1="83896" y1="40529" x2="62078" y2="33480"/>
                        <a14:foregroundMark x1="62078" y1="33480" x2="40779" y2="49339"/>
                        <a14:foregroundMark x1="40779" y1="49339" x2="18961" y2="51542"/>
                        <a14:foregroundMark x1="18961" y1="51542" x2="73506" y2="18943"/>
                        <a14:foregroundMark x1="73506" y1="18943" x2="52987" y2="56828"/>
                        <a14:foregroundMark x1="52987" y1="56828" x2="78701" y2="30837"/>
                        <a14:foregroundMark x1="78701" y1="30837" x2="77662" y2="65198"/>
                        <a14:foregroundMark x1="8571" y1="57269" x2="4675" y2="58590"/>
                        <a14:foregroundMark x1="7532" y1="44493" x2="30390" y2="64317"/>
                        <a14:foregroundMark x1="30390" y1="64317" x2="25195" y2="78855"/>
                        <a14:foregroundMark x1="16883" y1="77093" x2="19740" y2="83700"/>
                        <a14:foregroundMark x1="11948" y1="72687" x2="12727" y2="77093"/>
                        <a14:foregroundMark x1="7532" y1="63877" x2="7532" y2="65198"/>
                        <a14:foregroundMark x1="7532" y1="65198" x2="7532" y2="65198"/>
                        <a14:foregroundMark x1="7532" y1="65198" x2="7532" y2="65198"/>
                        <a14:foregroundMark x1="7532" y1="65198" x2="7532" y2="65198"/>
                        <a14:foregroundMark x1="7532" y1="65198" x2="7532" y2="65198"/>
                        <a14:foregroundMark x1="7532" y1="65198" x2="2597" y2="55507"/>
                        <a14:foregroundMark x1="6753" y1="43612" x2="8052" y2="37885"/>
                        <a14:foregroundMark x1="12727" y1="30396" x2="10130" y2="37004"/>
                        <a14:foregroundMark x1="16364" y1="37004" x2="23117" y2="30396"/>
                        <a14:foregroundMark x1="37662" y1="64758" x2="44156" y2="65198"/>
                        <a14:foregroundMark x1="58961" y1="65198" x2="70390" y2="65198"/>
                        <a14:foregroundMark x1="58961" y1="62115" x2="48052" y2="65198"/>
                        <a14:foregroundMark x1="73247" y1="67841" x2="80519" y2="66079"/>
                        <a14:foregroundMark x1="83377" y1="54626" x2="94026" y2="52863"/>
                        <a14:foregroundMark x1="94545" y1="46256" x2="82338" y2="51101"/>
                        <a14:foregroundMark x1="82597" y1="40529" x2="94545" y2="47137"/>
                        <a14:foregroundMark x1="94805" y1="41410" x2="96104" y2="56388"/>
                        <a14:foregroundMark x1="93247" y1="41410" x2="91429" y2="43172"/>
                        <a14:foregroundMark x1="93506" y1="43172" x2="84675" y2="39648"/>
                        <a14:foregroundMark x1="88831" y1="39648" x2="89351" y2="36123"/>
                        <a14:foregroundMark x1="94805" y1="36123" x2="91169" y2="44493"/>
                        <a14:foregroundMark x1="95584" y1="51101" x2="95584" y2="40529"/>
                        <a14:foregroundMark x1="91169" y1="30396" x2="82597" y2="40529"/>
                      </a14:backgroundRemoval>
                    </a14:imgEffect>
                  </a14:imgLayer>
                </a14:imgProps>
              </a:ext>
              <a:ext uri="{28A0092B-C50C-407E-A947-70E740481C1C}">
                <a14:useLocalDpi xmlns:a14="http://schemas.microsoft.com/office/drawing/2010/main" val="0"/>
              </a:ext>
            </a:extLst>
          </a:blip>
          <a:srcRect/>
          <a:stretch>
            <a:fillRect/>
          </a:stretch>
        </p:blipFill>
        <p:spPr bwMode="auto">
          <a:xfrm>
            <a:off x="891096" y="519736"/>
            <a:ext cx="2667391" cy="1352480"/>
          </a:xfrm>
          <a:prstGeom prst="rect">
            <a:avLst/>
          </a:prstGeom>
          <a:noFill/>
          <a:ln>
            <a:noFill/>
          </a:ln>
        </p:spPr>
      </p:pic>
      <p:pic>
        <p:nvPicPr>
          <p:cNvPr id="14" name="Imagen 13" descr="Logos Oficiales – Tecnológico Nacional de México">
            <a:extLst>
              <a:ext uri="{FF2B5EF4-FFF2-40B4-BE49-F238E27FC236}">
                <a16:creationId xmlns:a16="http://schemas.microsoft.com/office/drawing/2014/main" id="{95213785-F39B-A169-C99D-1172B99500C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32440" y="618059"/>
            <a:ext cx="2055088" cy="970177"/>
          </a:xfrm>
          <a:prstGeom prst="rect">
            <a:avLst/>
          </a:prstGeom>
          <a:noFill/>
          <a:ln>
            <a:noFill/>
          </a:ln>
        </p:spPr>
      </p:pic>
      <p:pic>
        <p:nvPicPr>
          <p:cNvPr id="16" name="Imagen 15" descr="TecNM | Tecnológico Nacional de México">
            <a:extLst>
              <a:ext uri="{FF2B5EF4-FFF2-40B4-BE49-F238E27FC236}">
                <a16:creationId xmlns:a16="http://schemas.microsoft.com/office/drawing/2014/main" id="{EB3A2178-9F41-48BC-3E38-CA8D606F8C26}"/>
              </a:ext>
            </a:extLst>
          </p:cNvPr>
          <p:cNvPicPr>
            <a:picLocks noChangeAspect="1"/>
          </p:cNvPicPr>
          <p:nvPr/>
        </p:nvPicPr>
        <p:blipFill>
          <a:blip r:embed="rId6">
            <a:extLst>
              <a:ext uri="{28A0092B-C50C-407E-A947-70E740481C1C}">
                <a14:useLocalDpi xmlns:a14="http://schemas.microsoft.com/office/drawing/2010/main" val="0"/>
              </a:ext>
            </a:extLst>
          </a:blip>
          <a:srcRect b="9635"/>
          <a:stretch>
            <a:fillRect/>
          </a:stretch>
        </p:blipFill>
        <p:spPr bwMode="auto">
          <a:xfrm>
            <a:off x="9085797" y="735091"/>
            <a:ext cx="1953006" cy="1127293"/>
          </a:xfrm>
          <a:prstGeom prst="rect">
            <a:avLst/>
          </a:prstGeom>
          <a:noFill/>
          <a:ln>
            <a:noFill/>
          </a:ln>
        </p:spPr>
      </p:pic>
    </p:spTree>
    <p:extLst>
      <p:ext uri="{BB962C8B-B14F-4D97-AF65-F5344CB8AC3E}">
        <p14:creationId xmlns:p14="http://schemas.microsoft.com/office/powerpoint/2010/main" val="2835419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INTRODUCCIÓN</a:t>
            </a: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lnSpcReduction="10000"/>
          </a:bodyPr>
          <a:lstStyle/>
          <a:p>
            <a:pPr marL="0" indent="0" algn="just">
              <a:buNone/>
            </a:pPr>
            <a:r>
              <a:rPr lang="es-MX" dirty="0"/>
              <a:t>	En este banco de ejercicios trabajaremos con dos API REST desarrolladas anteriormente, una utilizando Node.js y Express para un sistema de inventario y ventas, y otra utilizando Java y Spring </a:t>
            </a:r>
            <a:r>
              <a:rPr lang="es-MX" dirty="0" err="1"/>
              <a:t>Boot</a:t>
            </a:r>
            <a:r>
              <a:rPr lang="es-MX" dirty="0"/>
              <a:t> para un sistema de evacuaciones por tsunami. El propósito de esta actividad es poner en funcionamiento ambos proyectos y comprobar que se ejecuten correctamente.</a:t>
            </a:r>
          </a:p>
          <a:p>
            <a:pPr marL="0" indent="0" algn="just">
              <a:buNone/>
            </a:pPr>
            <a:r>
              <a:rPr lang="es-MX" dirty="0"/>
              <a:t>Durante el procedimiento utilizaremos Visual Studio </a:t>
            </a:r>
            <a:r>
              <a:rPr lang="es-MX" dirty="0" err="1"/>
              <a:t>Code</a:t>
            </a:r>
            <a:r>
              <a:rPr lang="es-MX" dirty="0"/>
              <a:t> e IntelliJ IDEA para ejecutar nuestras aplicaciones. También emplearemos Bruno para realizar peticiones mediante los métodos GET, POST, PUT y DELETE, y finalmente utilizaremos </a:t>
            </a:r>
            <a:r>
              <a:rPr lang="es-MX" dirty="0" err="1"/>
              <a:t>pgAdmin</a:t>
            </a:r>
            <a:r>
              <a:rPr lang="es-MX" dirty="0"/>
              <a:t> 4 para consultar las tablas y verificar que la información se almacene y actualice correctamente en nuestras bases de datos.</a:t>
            </a:r>
          </a:p>
          <a:p>
            <a:pPr marL="0" indent="0" algn="just">
              <a:buNone/>
            </a:pPr>
            <a:endParaRPr lang="en-US" dirty="0"/>
          </a:p>
        </p:txBody>
      </p:sp>
    </p:spTree>
    <p:extLst>
      <p:ext uri="{BB962C8B-B14F-4D97-AF65-F5344CB8AC3E}">
        <p14:creationId xmlns:p14="http://schemas.microsoft.com/office/powerpoint/2010/main" val="2785487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JUSTIFICACIÓN</a:t>
            </a:r>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lnSpcReduction="10000"/>
          </a:bodyPr>
          <a:lstStyle/>
          <a:p>
            <a:pPr marL="0" indent="0" algn="just">
              <a:buNone/>
            </a:pPr>
            <a:r>
              <a:rPr lang="es-MX" dirty="0"/>
              <a:t>	Este banco de ejercicios se realiza con la finalidad de reforzar nuestros conocimientos sobre el funcionamiento de las API REST y su conexión con las bases de datos. Mediante esta actividad podremos comprobar que los proyectos desarrollados con Node.js y Spring </a:t>
            </a:r>
            <a:r>
              <a:rPr lang="es-MX" dirty="0" err="1"/>
              <a:t>Boot</a:t>
            </a:r>
            <a:r>
              <a:rPr lang="es-MX" dirty="0"/>
              <a:t> funcionen correctamente y respondan a las diferentes peticiones realizadas desde Bruno.</a:t>
            </a:r>
          </a:p>
          <a:p>
            <a:pPr marL="0" indent="0" algn="just">
              <a:buNone/>
            </a:pPr>
            <a:r>
              <a:rPr lang="es-MX" dirty="0"/>
              <a:t>Además, esta práctica nos permitirá observar cómo se reflejan los cambios directamente en PostgreSQL mediante </a:t>
            </a:r>
            <a:r>
              <a:rPr lang="es-MX" dirty="0" err="1"/>
              <a:t>pgAdmin</a:t>
            </a:r>
            <a:r>
              <a:rPr lang="es-MX" dirty="0"/>
              <a:t> 4, verificando que los registros se puedan consultar, agregar, modificar y eliminar. De esta manera comprenderemos mejor la importancia de realizar pruebas a nuestras aplicaciones y comprobar que la información se maneje correctamente dentro de una base de datos.</a:t>
            </a:r>
          </a:p>
          <a:p>
            <a:pPr marL="0" indent="0" algn="just">
              <a:buNone/>
            </a:pPr>
            <a:endParaRPr lang="en-US" dirty="0"/>
          </a:p>
        </p:txBody>
      </p:sp>
    </p:spTree>
    <p:extLst>
      <p:ext uri="{BB962C8B-B14F-4D97-AF65-F5344CB8AC3E}">
        <p14:creationId xmlns:p14="http://schemas.microsoft.com/office/powerpoint/2010/main" val="1381086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BANCO DE EJERCICIOS</a:t>
            </a:r>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a:bodyPr>
          <a:lstStyle/>
          <a:p>
            <a:pPr marL="0" indent="0" algn="just">
              <a:buNone/>
            </a:pPr>
            <a:r>
              <a:rPr lang="es-MX" dirty="0"/>
              <a:t>	Para comenzar con nuestro banco de ejercicios, trabajamos con las dos API REST que desarrollamos anteriormente, una utilizando Node.js y otra con Spring </a:t>
            </a:r>
            <a:r>
              <a:rPr lang="es-MX" dirty="0" err="1"/>
              <a:t>Boot</a:t>
            </a:r>
            <a:r>
              <a:rPr lang="es-MX" dirty="0"/>
              <a:t>. En esta ocasión nos enfocaremos en ejecutar ambos proyectos y realizar diferentes pruebas para comprobar su funcionamiento. Primero iniciaremos los servidores desde sus respectivos entornos de programación, después utilizaremos Bruno para enviar peticiones y observar las respuestas de cada API. Finalmente, ingresaremos a </a:t>
            </a:r>
            <a:r>
              <a:rPr lang="es-MX" dirty="0" err="1"/>
              <a:t>pgAdmin</a:t>
            </a:r>
            <a:r>
              <a:rPr lang="es-MX" dirty="0"/>
              <a:t> 4 para verificar que los datos se hayan guardado, actualizado o eliminado correctamente dentro de nuestras bases de datos.</a:t>
            </a:r>
          </a:p>
          <a:p>
            <a:pPr marL="0" indent="0" algn="just">
              <a:buNone/>
            </a:pPr>
            <a:endParaRPr lang="en-US" dirty="0"/>
          </a:p>
        </p:txBody>
      </p:sp>
    </p:spTree>
    <p:extLst>
      <p:ext uri="{BB962C8B-B14F-4D97-AF65-F5344CB8AC3E}">
        <p14:creationId xmlns:p14="http://schemas.microsoft.com/office/powerpoint/2010/main" val="3275147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Ejecución de la API REST con Node.js</a:t>
            </a:r>
          </a:p>
        </p:txBody>
      </p:sp>
      <p:pic>
        <p:nvPicPr>
          <p:cNvPr id="8" name="Imagen 7">
            <a:extLst>
              <a:ext uri="{FF2B5EF4-FFF2-40B4-BE49-F238E27FC236}">
                <a16:creationId xmlns:a16="http://schemas.microsoft.com/office/drawing/2014/main" id="{3BC7D4EE-7DA2-4145-B000-D2C5D9C65471}"/>
              </a:ext>
            </a:extLst>
          </p:cNvPr>
          <p:cNvPicPr>
            <a:picLocks noChangeAspect="1"/>
          </p:cNvPicPr>
          <p:nvPr/>
        </p:nvPicPr>
        <p:blipFill>
          <a:blip r:embed="rId3"/>
          <a:stretch>
            <a:fillRect/>
          </a:stretch>
        </p:blipFill>
        <p:spPr>
          <a:xfrm>
            <a:off x="365312" y="2389500"/>
            <a:ext cx="5154706" cy="2898682"/>
          </a:xfrm>
          <a:prstGeom prst="rect">
            <a:avLst/>
          </a:prstGeom>
        </p:spPr>
      </p:pic>
      <p:sp>
        <p:nvSpPr>
          <p:cNvPr id="10" name="CuadroTexto 9">
            <a:extLst>
              <a:ext uri="{FF2B5EF4-FFF2-40B4-BE49-F238E27FC236}">
                <a16:creationId xmlns:a16="http://schemas.microsoft.com/office/drawing/2014/main" id="{013435BA-B038-4EAE-BE66-2FD247E66136}"/>
              </a:ext>
            </a:extLst>
          </p:cNvPr>
          <p:cNvSpPr txBox="1"/>
          <p:nvPr/>
        </p:nvSpPr>
        <p:spPr>
          <a:xfrm>
            <a:off x="5885330" y="2308818"/>
            <a:ext cx="5585013" cy="2862322"/>
          </a:xfrm>
          <a:prstGeom prst="rect">
            <a:avLst/>
          </a:prstGeom>
          <a:noFill/>
        </p:spPr>
        <p:txBody>
          <a:bodyPr wrap="square">
            <a:spAutoFit/>
          </a:bodyPr>
          <a:lstStyle/>
          <a:p>
            <a:pPr algn="just"/>
            <a:r>
              <a:rPr lang="es-MX" b="1" dirty="0"/>
              <a:t>En este primer ejercicio abrimos nuestro proyecto de inventario en Visual Studio </a:t>
            </a:r>
            <a:r>
              <a:rPr lang="es-MX" b="1" dirty="0" err="1"/>
              <a:t>Code</a:t>
            </a:r>
            <a:r>
              <a:rPr lang="es-MX" b="1" dirty="0"/>
              <a:t> y utilizamos la terminal para ejecutar el comando </a:t>
            </a:r>
            <a:r>
              <a:rPr lang="es-MX" b="1" dirty="0" err="1"/>
              <a:t>node</a:t>
            </a:r>
            <a:r>
              <a:rPr lang="es-MX" b="1" dirty="0"/>
              <a:t> index.js, con el cual iniciamos nuestra API desarrollada con Node.js y Express. Al ejecutarlo, observamos que el servidor comenzó a funcionar en el puerto 3000 y que las tablas de inventario y ventas fueron verificadas correctamente en PostgreSQL. De esta manera comprobamos que nuestra API estaba en funcionamiento y lista para realizar las pruebas correspondientes.</a:t>
            </a:r>
          </a:p>
        </p:txBody>
      </p:sp>
    </p:spTree>
    <p:extLst>
      <p:ext uri="{BB962C8B-B14F-4D97-AF65-F5344CB8AC3E}">
        <p14:creationId xmlns:p14="http://schemas.microsoft.com/office/powerpoint/2010/main" val="2285184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Prueba del método GET en Bruno</a:t>
            </a:r>
          </a:p>
        </p:txBody>
      </p:sp>
      <p:pic>
        <p:nvPicPr>
          <p:cNvPr id="8" name="Imagen 7">
            <a:extLst>
              <a:ext uri="{FF2B5EF4-FFF2-40B4-BE49-F238E27FC236}">
                <a16:creationId xmlns:a16="http://schemas.microsoft.com/office/drawing/2014/main" id="{3BC7D4EE-7DA2-4145-B000-D2C5D9C6547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5312" y="2405634"/>
            <a:ext cx="5154706" cy="2866414"/>
          </a:xfrm>
          <a:prstGeom prst="rect">
            <a:avLst/>
          </a:prstGeom>
        </p:spPr>
      </p:pic>
      <p:sp>
        <p:nvSpPr>
          <p:cNvPr id="10" name="CuadroTexto 9">
            <a:extLst>
              <a:ext uri="{FF2B5EF4-FFF2-40B4-BE49-F238E27FC236}">
                <a16:creationId xmlns:a16="http://schemas.microsoft.com/office/drawing/2014/main" id="{013435BA-B038-4EAE-BE66-2FD247E66136}"/>
              </a:ext>
            </a:extLst>
          </p:cNvPr>
          <p:cNvSpPr txBox="1"/>
          <p:nvPr/>
        </p:nvSpPr>
        <p:spPr>
          <a:xfrm>
            <a:off x="5885330" y="2308818"/>
            <a:ext cx="5585013" cy="3139321"/>
          </a:xfrm>
          <a:prstGeom prst="rect">
            <a:avLst/>
          </a:prstGeom>
          <a:noFill/>
        </p:spPr>
        <p:txBody>
          <a:bodyPr wrap="square">
            <a:spAutoFit/>
          </a:bodyPr>
          <a:lstStyle/>
          <a:p>
            <a:pPr algn="just"/>
            <a:r>
              <a:rPr lang="es-MX" b="1" dirty="0"/>
              <a:t>En este ejercicio utilizamos el programa Bruno para comprobar el funcionamiento del método GET de nuestra API desarrollada con Node.js. Para realizar la prueba, ingresamos la dirección </a:t>
            </a:r>
            <a:r>
              <a:rPr lang="es-MX" b="1" dirty="0">
                <a:hlinkClick r:id="rId4"/>
              </a:rPr>
              <a:t>http://localhost:3000/api/productos</a:t>
            </a:r>
            <a:r>
              <a:rPr lang="es-MX" b="1" dirty="0"/>
              <a:t> y enviamos la petición mediante el botón </a:t>
            </a:r>
            <a:r>
              <a:rPr lang="es-MX" b="1" dirty="0" err="1"/>
              <a:t>Send</a:t>
            </a:r>
            <a:r>
              <a:rPr lang="es-MX" b="1" dirty="0"/>
              <a:t>. Este método nos permite consultar los productos almacenados en nuestra base de datos PostgreSQL y visualizar su información, como el nombre, precio, stock y stock mínimo. De esta manera podemos verificar que nuestra API responde correctamente a las solicitudes de consulta.</a:t>
            </a:r>
          </a:p>
        </p:txBody>
      </p:sp>
    </p:spTree>
    <p:extLst>
      <p:ext uri="{BB962C8B-B14F-4D97-AF65-F5344CB8AC3E}">
        <p14:creationId xmlns:p14="http://schemas.microsoft.com/office/powerpoint/2010/main" val="2577572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Prueba del método post en Bruno</a:t>
            </a:r>
          </a:p>
        </p:txBody>
      </p:sp>
      <p:pic>
        <p:nvPicPr>
          <p:cNvPr id="8" name="Imagen 7">
            <a:extLst>
              <a:ext uri="{FF2B5EF4-FFF2-40B4-BE49-F238E27FC236}">
                <a16:creationId xmlns:a16="http://schemas.microsoft.com/office/drawing/2014/main" id="{3BC7D4EE-7DA2-4145-B000-D2C5D9C6547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1552" y="2405634"/>
            <a:ext cx="5002225" cy="2866414"/>
          </a:xfrm>
          <a:prstGeom prst="rect">
            <a:avLst/>
          </a:prstGeom>
        </p:spPr>
      </p:pic>
      <p:sp>
        <p:nvSpPr>
          <p:cNvPr id="10" name="CuadroTexto 9">
            <a:extLst>
              <a:ext uri="{FF2B5EF4-FFF2-40B4-BE49-F238E27FC236}">
                <a16:creationId xmlns:a16="http://schemas.microsoft.com/office/drawing/2014/main" id="{013435BA-B038-4EAE-BE66-2FD247E66136}"/>
              </a:ext>
            </a:extLst>
          </p:cNvPr>
          <p:cNvSpPr txBox="1"/>
          <p:nvPr/>
        </p:nvSpPr>
        <p:spPr>
          <a:xfrm>
            <a:off x="5885330" y="2308818"/>
            <a:ext cx="5585013" cy="3139321"/>
          </a:xfrm>
          <a:prstGeom prst="rect">
            <a:avLst/>
          </a:prstGeom>
          <a:noFill/>
        </p:spPr>
        <p:txBody>
          <a:bodyPr wrap="square">
            <a:spAutoFit/>
          </a:bodyPr>
          <a:lstStyle/>
          <a:p>
            <a:pPr algn="just"/>
            <a:r>
              <a:rPr lang="es-MX" b="1" dirty="0"/>
              <a:t>En este ejercicio utilizamos el método POST desde Bruno para registrar un nuevo producto en nuestra API desarrollada con Node.js. Primero ingresamos la dirección correspondiente y después colocamos los datos del producto en formato JSON, incluyendo su nombre, precio, cantidad disponible y stock mínimo. Al enviar la petición, nuestra API procesa la información y la guarda en la tabla productos de PostgreSQL. Con esta prueba comprobamos que podemos agregar nuevos registros a nuestro sistema de inventario mediante una petición HTTP.</a:t>
            </a:r>
          </a:p>
        </p:txBody>
      </p:sp>
    </p:spTree>
    <p:extLst>
      <p:ext uri="{BB962C8B-B14F-4D97-AF65-F5344CB8AC3E}">
        <p14:creationId xmlns:p14="http://schemas.microsoft.com/office/powerpoint/2010/main" val="85362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Prueba del método PUT en Bruno</a:t>
            </a:r>
          </a:p>
        </p:txBody>
      </p:sp>
      <p:pic>
        <p:nvPicPr>
          <p:cNvPr id="8" name="Imagen 7">
            <a:extLst>
              <a:ext uri="{FF2B5EF4-FFF2-40B4-BE49-F238E27FC236}">
                <a16:creationId xmlns:a16="http://schemas.microsoft.com/office/drawing/2014/main" id="{3BC7D4EE-7DA2-4145-B000-D2C5D9C6547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1552" y="2432373"/>
            <a:ext cx="5002225" cy="2812936"/>
          </a:xfrm>
          <a:prstGeom prst="rect">
            <a:avLst/>
          </a:prstGeom>
        </p:spPr>
      </p:pic>
      <p:sp>
        <p:nvSpPr>
          <p:cNvPr id="10" name="CuadroTexto 9">
            <a:extLst>
              <a:ext uri="{FF2B5EF4-FFF2-40B4-BE49-F238E27FC236}">
                <a16:creationId xmlns:a16="http://schemas.microsoft.com/office/drawing/2014/main" id="{013435BA-B038-4EAE-BE66-2FD247E66136}"/>
              </a:ext>
            </a:extLst>
          </p:cNvPr>
          <p:cNvSpPr txBox="1"/>
          <p:nvPr/>
        </p:nvSpPr>
        <p:spPr>
          <a:xfrm>
            <a:off x="5885330" y="2308818"/>
            <a:ext cx="5585013" cy="3139321"/>
          </a:xfrm>
          <a:prstGeom prst="rect">
            <a:avLst/>
          </a:prstGeom>
          <a:noFill/>
        </p:spPr>
        <p:txBody>
          <a:bodyPr wrap="square">
            <a:spAutoFit/>
          </a:bodyPr>
          <a:lstStyle/>
          <a:p>
            <a:pPr algn="just"/>
            <a:r>
              <a:rPr lang="es-MX" b="1" dirty="0"/>
              <a:t>En este ejercicio utilizamos el método PUT desde Bruno para modificar la información de un producto registrado anteriormente en nuestra API desarrollada con Node.js. Para realizar la prueba, ingresamos la dirección del producto utilizando su ID y colocamos los nuevos datos en formato JSON. En este caso modificamos el nombre, precio, stock y stock mínimo del producto. Al enviar la petición, nuestra API actualiza la información en la base de datos PostgreSQL, permitiéndonos comprobar que podemos modificar los registros existentes correctamente.</a:t>
            </a:r>
          </a:p>
        </p:txBody>
      </p:sp>
    </p:spTree>
    <p:extLst>
      <p:ext uri="{BB962C8B-B14F-4D97-AF65-F5344CB8AC3E}">
        <p14:creationId xmlns:p14="http://schemas.microsoft.com/office/powerpoint/2010/main" val="1468774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Prueba del método DELETE en Bruno</a:t>
            </a:r>
          </a:p>
        </p:txBody>
      </p:sp>
      <p:pic>
        <p:nvPicPr>
          <p:cNvPr id="8" name="Imagen 7">
            <a:extLst>
              <a:ext uri="{FF2B5EF4-FFF2-40B4-BE49-F238E27FC236}">
                <a16:creationId xmlns:a16="http://schemas.microsoft.com/office/drawing/2014/main" id="{3BC7D4EE-7DA2-4145-B000-D2C5D9C6547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1552" y="2432373"/>
            <a:ext cx="5002225" cy="2812936"/>
          </a:xfrm>
          <a:prstGeom prst="rect">
            <a:avLst/>
          </a:prstGeom>
        </p:spPr>
      </p:pic>
      <p:sp>
        <p:nvSpPr>
          <p:cNvPr id="10" name="CuadroTexto 9">
            <a:extLst>
              <a:ext uri="{FF2B5EF4-FFF2-40B4-BE49-F238E27FC236}">
                <a16:creationId xmlns:a16="http://schemas.microsoft.com/office/drawing/2014/main" id="{013435BA-B038-4EAE-BE66-2FD247E66136}"/>
              </a:ext>
            </a:extLst>
          </p:cNvPr>
          <p:cNvSpPr txBox="1"/>
          <p:nvPr/>
        </p:nvSpPr>
        <p:spPr>
          <a:xfrm>
            <a:off x="5885330" y="2308818"/>
            <a:ext cx="5585013" cy="3139321"/>
          </a:xfrm>
          <a:prstGeom prst="rect">
            <a:avLst/>
          </a:prstGeom>
          <a:noFill/>
        </p:spPr>
        <p:txBody>
          <a:bodyPr wrap="square">
            <a:spAutoFit/>
          </a:bodyPr>
          <a:lstStyle/>
          <a:p>
            <a:pPr algn="just"/>
            <a:r>
              <a:rPr lang="es-MX" b="1" dirty="0"/>
              <a:t>En este ejercicio utilizamos el método DELETE desde Bruno para eliminar un producto que habíamos registrado anteriormente en nuestra API desarrollada con Node.js. Para realizar la prueba, ingresamos la dirección correspondiente junto con el ID del producto que deseábamos eliminar. Después enviamos la petición y verificamos la respuesta del servidor, que nos indica si el registro fue eliminado correctamente. De esta manera comprobamos cómo podemos eliminar información de nuestra base de datos PostgreSQL mediante una petición HTTP.</a:t>
            </a:r>
          </a:p>
        </p:txBody>
      </p:sp>
    </p:spTree>
    <p:extLst>
      <p:ext uri="{BB962C8B-B14F-4D97-AF65-F5344CB8AC3E}">
        <p14:creationId xmlns:p14="http://schemas.microsoft.com/office/powerpoint/2010/main" val="446360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Verificación de registros en PostgreSQL mediante </a:t>
            </a:r>
            <a:r>
              <a:rPr lang="es-MX" b="1" dirty="0" err="1"/>
              <a:t>pgAdmin</a:t>
            </a:r>
            <a:r>
              <a:rPr lang="es-MX" b="1" dirty="0"/>
              <a:t> 4</a:t>
            </a:r>
          </a:p>
        </p:txBody>
      </p:sp>
      <p:pic>
        <p:nvPicPr>
          <p:cNvPr id="8" name="Imagen 7">
            <a:extLst>
              <a:ext uri="{FF2B5EF4-FFF2-40B4-BE49-F238E27FC236}">
                <a16:creationId xmlns:a16="http://schemas.microsoft.com/office/drawing/2014/main" id="{3BC7D4EE-7DA2-4145-B000-D2C5D9C6547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1552" y="2432373"/>
            <a:ext cx="5002225" cy="2812936"/>
          </a:xfrm>
          <a:prstGeom prst="rect">
            <a:avLst/>
          </a:prstGeom>
        </p:spPr>
      </p:pic>
      <p:sp>
        <p:nvSpPr>
          <p:cNvPr id="10" name="CuadroTexto 9">
            <a:extLst>
              <a:ext uri="{FF2B5EF4-FFF2-40B4-BE49-F238E27FC236}">
                <a16:creationId xmlns:a16="http://schemas.microsoft.com/office/drawing/2014/main" id="{013435BA-B038-4EAE-BE66-2FD247E66136}"/>
              </a:ext>
            </a:extLst>
          </p:cNvPr>
          <p:cNvSpPr txBox="1"/>
          <p:nvPr/>
        </p:nvSpPr>
        <p:spPr>
          <a:xfrm>
            <a:off x="5885330" y="2308818"/>
            <a:ext cx="5585013" cy="3416320"/>
          </a:xfrm>
          <a:prstGeom prst="rect">
            <a:avLst/>
          </a:prstGeom>
          <a:noFill/>
        </p:spPr>
        <p:txBody>
          <a:bodyPr wrap="square">
            <a:spAutoFit/>
          </a:bodyPr>
          <a:lstStyle/>
          <a:p>
            <a:pPr algn="just"/>
            <a:r>
              <a:rPr lang="es-MX" b="1" dirty="0"/>
              <a:t>En este ejercicio utilizamos </a:t>
            </a:r>
            <a:r>
              <a:rPr lang="es-MX" b="1" dirty="0" err="1"/>
              <a:t>pgAdmin</a:t>
            </a:r>
            <a:r>
              <a:rPr lang="es-MX" b="1" dirty="0"/>
              <a:t> 4 para verificar los cambios realizados anteriormente desde Bruno en nuestra API desarrollada con Node.js. Primero ingresamos a nuestra base de datos </a:t>
            </a:r>
            <a:r>
              <a:rPr lang="es-MX" b="1" dirty="0" err="1"/>
              <a:t>gym_db</a:t>
            </a:r>
            <a:r>
              <a:rPr lang="es-MX" b="1" dirty="0"/>
              <a:t> y seleccionamos la tabla productos. Después ejecutamos una consulta SQL para visualizar los registros almacenados y comprobar que las operaciones realizadas mediante los métodos POST, PUT y DELETE se reflejaran correctamente. De esta manera pudimos observar cómo nuestra API se comunica con PostgreSQL y administra la información de nuestro sistema de inventario.</a:t>
            </a:r>
          </a:p>
        </p:txBody>
      </p:sp>
    </p:spTree>
    <p:extLst>
      <p:ext uri="{BB962C8B-B14F-4D97-AF65-F5344CB8AC3E}">
        <p14:creationId xmlns:p14="http://schemas.microsoft.com/office/powerpoint/2010/main" val="106457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Ejecución de la API REST con Spring </a:t>
            </a:r>
            <a:r>
              <a:rPr lang="es-MX" b="1" dirty="0" err="1"/>
              <a:t>Boot</a:t>
            </a:r>
            <a:endParaRPr lang="es-MX" b="1" dirty="0"/>
          </a:p>
        </p:txBody>
      </p:sp>
      <p:pic>
        <p:nvPicPr>
          <p:cNvPr id="8" name="Imagen 7">
            <a:extLst>
              <a:ext uri="{FF2B5EF4-FFF2-40B4-BE49-F238E27FC236}">
                <a16:creationId xmlns:a16="http://schemas.microsoft.com/office/drawing/2014/main" id="{3BC7D4EE-7DA2-4145-B000-D2C5D9C6547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1552" y="2430486"/>
            <a:ext cx="5002225" cy="2816710"/>
          </a:xfrm>
          <a:prstGeom prst="rect">
            <a:avLst/>
          </a:prstGeom>
        </p:spPr>
      </p:pic>
      <p:sp>
        <p:nvSpPr>
          <p:cNvPr id="10" name="CuadroTexto 9">
            <a:extLst>
              <a:ext uri="{FF2B5EF4-FFF2-40B4-BE49-F238E27FC236}">
                <a16:creationId xmlns:a16="http://schemas.microsoft.com/office/drawing/2014/main" id="{013435BA-B038-4EAE-BE66-2FD247E66136}"/>
              </a:ext>
            </a:extLst>
          </p:cNvPr>
          <p:cNvSpPr txBox="1"/>
          <p:nvPr/>
        </p:nvSpPr>
        <p:spPr>
          <a:xfrm>
            <a:off x="5885330" y="2308818"/>
            <a:ext cx="5585013" cy="2862322"/>
          </a:xfrm>
          <a:prstGeom prst="rect">
            <a:avLst/>
          </a:prstGeom>
          <a:noFill/>
        </p:spPr>
        <p:txBody>
          <a:bodyPr wrap="square">
            <a:spAutoFit/>
          </a:bodyPr>
          <a:lstStyle/>
          <a:p>
            <a:pPr algn="just"/>
            <a:r>
              <a:rPr lang="es-MX" b="1" dirty="0"/>
              <a:t>En este ejercicio abrimos nuestro proyecto de evacuaciones por tsunami en IntelliJ IDEA y ejecutamos la clase MainApplication.java para iniciar nuestra API REST desarrollada con Java y Spring </a:t>
            </a:r>
            <a:r>
              <a:rPr lang="es-MX" b="1" dirty="0" err="1"/>
              <a:t>Boot</a:t>
            </a:r>
            <a:r>
              <a:rPr lang="es-MX" b="1" dirty="0"/>
              <a:t>. Al ejecutar el proyecto, revisamos la consola para comprobar que el servidor iniciara correctamente y que la aplicación pudiera establecer comunicación con PostgreSQL. De esta manera preparamos nuestra API para realizar las pruebas de consulta, registro, actualización y eliminación de información mediante Bruno.</a:t>
            </a:r>
          </a:p>
        </p:txBody>
      </p:sp>
    </p:spTree>
    <p:extLst>
      <p:ext uri="{BB962C8B-B14F-4D97-AF65-F5344CB8AC3E}">
        <p14:creationId xmlns:p14="http://schemas.microsoft.com/office/powerpoint/2010/main" val="4224650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Prueba del método GET en Bruno con Spring </a:t>
            </a:r>
            <a:r>
              <a:rPr lang="es-MX" b="1" dirty="0" err="1"/>
              <a:t>Boot</a:t>
            </a:r>
            <a:endParaRPr lang="es-MX" b="1" dirty="0"/>
          </a:p>
        </p:txBody>
      </p:sp>
      <p:pic>
        <p:nvPicPr>
          <p:cNvPr id="8" name="Imagen 7">
            <a:extLst>
              <a:ext uri="{FF2B5EF4-FFF2-40B4-BE49-F238E27FC236}">
                <a16:creationId xmlns:a16="http://schemas.microsoft.com/office/drawing/2014/main" id="{3BC7D4EE-7DA2-4145-B000-D2C5D9C6547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1552" y="2432373"/>
            <a:ext cx="5002225" cy="2812936"/>
          </a:xfrm>
          <a:prstGeom prst="rect">
            <a:avLst/>
          </a:prstGeom>
        </p:spPr>
      </p:pic>
      <p:sp>
        <p:nvSpPr>
          <p:cNvPr id="10" name="CuadroTexto 9">
            <a:extLst>
              <a:ext uri="{FF2B5EF4-FFF2-40B4-BE49-F238E27FC236}">
                <a16:creationId xmlns:a16="http://schemas.microsoft.com/office/drawing/2014/main" id="{013435BA-B038-4EAE-BE66-2FD247E66136}"/>
              </a:ext>
            </a:extLst>
          </p:cNvPr>
          <p:cNvSpPr txBox="1"/>
          <p:nvPr/>
        </p:nvSpPr>
        <p:spPr>
          <a:xfrm>
            <a:off x="5885330" y="2308818"/>
            <a:ext cx="5585013" cy="3139321"/>
          </a:xfrm>
          <a:prstGeom prst="rect">
            <a:avLst/>
          </a:prstGeom>
          <a:noFill/>
        </p:spPr>
        <p:txBody>
          <a:bodyPr wrap="square">
            <a:spAutoFit/>
          </a:bodyPr>
          <a:lstStyle/>
          <a:p>
            <a:pPr algn="just"/>
            <a:r>
              <a:rPr lang="es-MX" b="1" dirty="0"/>
              <a:t>En este ejercicio utilizamos Bruno para comprobar el funcionamiento del método GET de nuestra API desarrollada con Java y Spring </a:t>
            </a:r>
            <a:r>
              <a:rPr lang="es-MX" b="1" dirty="0" err="1"/>
              <a:t>Boot</a:t>
            </a:r>
            <a:r>
              <a:rPr lang="es-MX" b="1" dirty="0"/>
              <a:t>. Primero ingresamos la dirección correspondiente a las zonas de riesgo y enviamos la petición mediante el botón </a:t>
            </a:r>
            <a:r>
              <a:rPr lang="es-MX" b="1" dirty="0" err="1"/>
              <a:t>Send</a:t>
            </a:r>
            <a:r>
              <a:rPr lang="es-MX" b="1" dirty="0"/>
              <a:t>. Este método nos permite consultar la información almacenada en PostgreSQL, como el nombre de las zonas, su ubicación, nivel de riesgo y población estimada. De esta manera verificamos que nuestra API puede recibir solicitudes y mostrar los registros guardados en la base de datos.</a:t>
            </a:r>
          </a:p>
        </p:txBody>
      </p:sp>
    </p:spTree>
    <p:extLst>
      <p:ext uri="{BB962C8B-B14F-4D97-AF65-F5344CB8AC3E}">
        <p14:creationId xmlns:p14="http://schemas.microsoft.com/office/powerpoint/2010/main" val="2421768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Prueba del método POST en Bruno con Spring </a:t>
            </a:r>
            <a:r>
              <a:rPr lang="es-MX" b="1" dirty="0" err="1"/>
              <a:t>Boot</a:t>
            </a:r>
            <a:endParaRPr lang="es-MX" b="1" dirty="0"/>
          </a:p>
        </p:txBody>
      </p:sp>
      <p:pic>
        <p:nvPicPr>
          <p:cNvPr id="8" name="Imagen 7">
            <a:extLst>
              <a:ext uri="{FF2B5EF4-FFF2-40B4-BE49-F238E27FC236}">
                <a16:creationId xmlns:a16="http://schemas.microsoft.com/office/drawing/2014/main" id="{3BC7D4EE-7DA2-4145-B000-D2C5D9C6547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1552" y="2432373"/>
            <a:ext cx="5002224" cy="2812936"/>
          </a:xfrm>
          <a:prstGeom prst="rect">
            <a:avLst/>
          </a:prstGeom>
        </p:spPr>
      </p:pic>
      <p:sp>
        <p:nvSpPr>
          <p:cNvPr id="10" name="CuadroTexto 9">
            <a:extLst>
              <a:ext uri="{FF2B5EF4-FFF2-40B4-BE49-F238E27FC236}">
                <a16:creationId xmlns:a16="http://schemas.microsoft.com/office/drawing/2014/main" id="{013435BA-B038-4EAE-BE66-2FD247E66136}"/>
              </a:ext>
            </a:extLst>
          </p:cNvPr>
          <p:cNvSpPr txBox="1"/>
          <p:nvPr/>
        </p:nvSpPr>
        <p:spPr>
          <a:xfrm>
            <a:off x="5885330" y="2308818"/>
            <a:ext cx="5585013" cy="2585323"/>
          </a:xfrm>
          <a:prstGeom prst="rect">
            <a:avLst/>
          </a:prstGeom>
          <a:noFill/>
        </p:spPr>
        <p:txBody>
          <a:bodyPr wrap="square">
            <a:spAutoFit/>
          </a:bodyPr>
          <a:lstStyle/>
          <a:p>
            <a:pPr algn="just"/>
            <a:r>
              <a:rPr lang="es-MX" b="1" dirty="0"/>
              <a:t>En este ejercicio utilizamos el método POST desde Bruno para registrar una nueva zona de riesgo en nuestra API desarrollada con Java y Spring </a:t>
            </a:r>
            <a:r>
              <a:rPr lang="es-MX" b="1" dirty="0" err="1"/>
              <a:t>Boot</a:t>
            </a:r>
            <a:r>
              <a:rPr lang="es-MX" b="1" dirty="0"/>
              <a:t>. Para realizar la prueba, ingresamos los datos de la zona en formato JSON, incluyendo su nombre, ubicación, nivel de riesgo y población estimada. Después enviamos la petición y revisamos la respuesta del servidor para comprobar que la información se registrara correctamente en nuestra base de datos PostgreSQL.</a:t>
            </a:r>
          </a:p>
        </p:txBody>
      </p:sp>
    </p:spTree>
    <p:extLst>
      <p:ext uri="{BB962C8B-B14F-4D97-AF65-F5344CB8AC3E}">
        <p14:creationId xmlns:p14="http://schemas.microsoft.com/office/powerpoint/2010/main" val="2071356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Prueba del método PUT en Bruno con Spring </a:t>
            </a:r>
            <a:r>
              <a:rPr lang="es-MX" b="1" dirty="0" err="1"/>
              <a:t>Boot</a:t>
            </a:r>
            <a:endParaRPr lang="es-MX" b="1" dirty="0"/>
          </a:p>
        </p:txBody>
      </p:sp>
      <p:pic>
        <p:nvPicPr>
          <p:cNvPr id="8" name="Imagen 7">
            <a:extLst>
              <a:ext uri="{FF2B5EF4-FFF2-40B4-BE49-F238E27FC236}">
                <a16:creationId xmlns:a16="http://schemas.microsoft.com/office/drawing/2014/main" id="{3BC7D4EE-7DA2-4145-B000-D2C5D9C6547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1552" y="2432373"/>
            <a:ext cx="5002224" cy="2812935"/>
          </a:xfrm>
          <a:prstGeom prst="rect">
            <a:avLst/>
          </a:prstGeom>
        </p:spPr>
      </p:pic>
      <p:sp>
        <p:nvSpPr>
          <p:cNvPr id="10" name="CuadroTexto 9">
            <a:extLst>
              <a:ext uri="{FF2B5EF4-FFF2-40B4-BE49-F238E27FC236}">
                <a16:creationId xmlns:a16="http://schemas.microsoft.com/office/drawing/2014/main" id="{013435BA-B038-4EAE-BE66-2FD247E66136}"/>
              </a:ext>
            </a:extLst>
          </p:cNvPr>
          <p:cNvSpPr txBox="1"/>
          <p:nvPr/>
        </p:nvSpPr>
        <p:spPr>
          <a:xfrm>
            <a:off x="5885330" y="2308818"/>
            <a:ext cx="5585013" cy="3139321"/>
          </a:xfrm>
          <a:prstGeom prst="rect">
            <a:avLst/>
          </a:prstGeom>
          <a:noFill/>
        </p:spPr>
        <p:txBody>
          <a:bodyPr wrap="square">
            <a:spAutoFit/>
          </a:bodyPr>
          <a:lstStyle/>
          <a:p>
            <a:pPr algn="just"/>
            <a:r>
              <a:rPr lang="es-MX" b="1" dirty="0"/>
              <a:t>En este ejercicio utilizamos el método PUT desde Bruno para actualizar la información de una zona de riesgo registrada anteriormente en nuestra API desarrollada con Java y Spring </a:t>
            </a:r>
            <a:r>
              <a:rPr lang="es-MX" b="1" dirty="0" err="1"/>
              <a:t>Boot</a:t>
            </a:r>
            <a:r>
              <a:rPr lang="es-MX" b="1" dirty="0"/>
              <a:t>. Para realizar la prueba, seleccionamos el registro mediante su ID y modificamos los datos en formato JSON, como el nombre de la zona, su ubicación, nivel de riesgo y población estimada. Después enviamos la petición y verificamos la respuesta del servidor para comprobar que los cambios se actualizaran correctamente en nuestra base de datos PostgreSQL.</a:t>
            </a:r>
          </a:p>
        </p:txBody>
      </p:sp>
    </p:spTree>
    <p:extLst>
      <p:ext uri="{BB962C8B-B14F-4D97-AF65-F5344CB8AC3E}">
        <p14:creationId xmlns:p14="http://schemas.microsoft.com/office/powerpoint/2010/main" val="353511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Prueba del método DELETE en Bruno con Spring </a:t>
            </a:r>
            <a:r>
              <a:rPr lang="es-MX" b="1" dirty="0" err="1"/>
              <a:t>Boot</a:t>
            </a:r>
            <a:endParaRPr lang="es-MX" b="1" dirty="0"/>
          </a:p>
        </p:txBody>
      </p:sp>
      <p:pic>
        <p:nvPicPr>
          <p:cNvPr id="8" name="Imagen 7">
            <a:extLst>
              <a:ext uri="{FF2B5EF4-FFF2-40B4-BE49-F238E27FC236}">
                <a16:creationId xmlns:a16="http://schemas.microsoft.com/office/drawing/2014/main" id="{3BC7D4EE-7DA2-4145-B000-D2C5D9C6547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1552" y="2432373"/>
            <a:ext cx="5002225" cy="2812936"/>
          </a:xfrm>
          <a:prstGeom prst="rect">
            <a:avLst/>
          </a:prstGeom>
        </p:spPr>
      </p:pic>
      <p:sp>
        <p:nvSpPr>
          <p:cNvPr id="10" name="CuadroTexto 9">
            <a:extLst>
              <a:ext uri="{FF2B5EF4-FFF2-40B4-BE49-F238E27FC236}">
                <a16:creationId xmlns:a16="http://schemas.microsoft.com/office/drawing/2014/main" id="{013435BA-B038-4EAE-BE66-2FD247E66136}"/>
              </a:ext>
            </a:extLst>
          </p:cNvPr>
          <p:cNvSpPr txBox="1"/>
          <p:nvPr/>
        </p:nvSpPr>
        <p:spPr>
          <a:xfrm>
            <a:off x="5885330" y="2308818"/>
            <a:ext cx="5585013" cy="2862322"/>
          </a:xfrm>
          <a:prstGeom prst="rect">
            <a:avLst/>
          </a:prstGeom>
          <a:noFill/>
        </p:spPr>
        <p:txBody>
          <a:bodyPr wrap="square">
            <a:spAutoFit/>
          </a:bodyPr>
          <a:lstStyle/>
          <a:p>
            <a:pPr algn="just"/>
            <a:r>
              <a:rPr lang="es-MX" b="1" dirty="0"/>
              <a:t>En este ejercicio utilizamos el método DELETE desde Bruno para eliminar una zona de riesgo que habíamos registrado anteriormente en nuestra API desarrollada con Java y Spring </a:t>
            </a:r>
            <a:r>
              <a:rPr lang="es-MX" b="1" dirty="0" err="1"/>
              <a:t>Boot</a:t>
            </a:r>
            <a:r>
              <a:rPr lang="es-MX" b="1" dirty="0"/>
              <a:t>. Para realizar la prueba, seleccionamos el registro mediante su ID y enviamos la petición al servidor sin necesidad de colocar información en formato JSON. Después revisamos la respuesta para comprobar que la solicitud se procesara correctamente y que el registro se eliminara de nuestra base de datos PostgreSQL.</a:t>
            </a:r>
          </a:p>
        </p:txBody>
      </p:sp>
    </p:spTree>
    <p:extLst>
      <p:ext uri="{BB962C8B-B14F-4D97-AF65-F5344CB8AC3E}">
        <p14:creationId xmlns:p14="http://schemas.microsoft.com/office/powerpoint/2010/main" val="2599628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Verificación de registros en PostgreSQL mediante </a:t>
            </a:r>
            <a:r>
              <a:rPr lang="es-MX" b="1" dirty="0" err="1"/>
              <a:t>pgAdmin</a:t>
            </a:r>
            <a:r>
              <a:rPr lang="es-MX" b="1" dirty="0"/>
              <a:t> 4</a:t>
            </a:r>
          </a:p>
        </p:txBody>
      </p:sp>
      <p:pic>
        <p:nvPicPr>
          <p:cNvPr id="8" name="Imagen 7">
            <a:extLst>
              <a:ext uri="{FF2B5EF4-FFF2-40B4-BE49-F238E27FC236}">
                <a16:creationId xmlns:a16="http://schemas.microsoft.com/office/drawing/2014/main" id="{3BC7D4EE-7DA2-4145-B000-D2C5D9C6547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1552" y="2432373"/>
            <a:ext cx="5002225" cy="2812936"/>
          </a:xfrm>
          <a:prstGeom prst="rect">
            <a:avLst/>
          </a:prstGeom>
        </p:spPr>
      </p:pic>
      <p:sp>
        <p:nvSpPr>
          <p:cNvPr id="10" name="CuadroTexto 9">
            <a:extLst>
              <a:ext uri="{FF2B5EF4-FFF2-40B4-BE49-F238E27FC236}">
                <a16:creationId xmlns:a16="http://schemas.microsoft.com/office/drawing/2014/main" id="{013435BA-B038-4EAE-BE66-2FD247E66136}"/>
              </a:ext>
            </a:extLst>
          </p:cNvPr>
          <p:cNvSpPr txBox="1"/>
          <p:nvPr/>
        </p:nvSpPr>
        <p:spPr>
          <a:xfrm>
            <a:off x="5885330" y="2308818"/>
            <a:ext cx="5585013" cy="3416320"/>
          </a:xfrm>
          <a:prstGeom prst="rect">
            <a:avLst/>
          </a:prstGeom>
          <a:noFill/>
        </p:spPr>
        <p:txBody>
          <a:bodyPr wrap="square">
            <a:spAutoFit/>
          </a:bodyPr>
          <a:lstStyle/>
          <a:p>
            <a:pPr algn="just"/>
            <a:r>
              <a:rPr lang="es-MX" b="1" dirty="0"/>
              <a:t>En</a:t>
            </a:r>
            <a:r>
              <a:rPr lang="es-MX" dirty="0"/>
              <a:t> </a:t>
            </a:r>
            <a:r>
              <a:rPr lang="es-MX" b="1" dirty="0"/>
              <a:t>este último ejercicio utilizamos </a:t>
            </a:r>
            <a:r>
              <a:rPr lang="es-MX" b="1" dirty="0" err="1"/>
              <a:t>pgAdmin</a:t>
            </a:r>
            <a:r>
              <a:rPr lang="es-MX" b="1" dirty="0"/>
              <a:t> 4 para verificar los cambios realizados desde Bruno en nuestra API desarrollada con Java y Spring </a:t>
            </a:r>
            <a:r>
              <a:rPr lang="es-MX" b="1" dirty="0" err="1"/>
              <a:t>Boot</a:t>
            </a:r>
            <a:r>
              <a:rPr lang="es-MX" b="1" dirty="0"/>
              <a:t>. Primero ingresamos a la base de datos de nuestro proyecto y seleccionamos la tabla </a:t>
            </a:r>
            <a:r>
              <a:rPr lang="es-MX" b="1" dirty="0" err="1"/>
              <a:t>zonas_riesgo</a:t>
            </a:r>
            <a:r>
              <a:rPr lang="es-MX" b="1" dirty="0"/>
              <a:t>, donde se almacena la información de las zonas registradas. Después ejecutamos una consulta SQL para visualizar los datos y comprobar que las operaciones realizadas mediante los métodos POST, PUT y DELETE se reflejaran correctamente en PostgreSQL. De esta manera verificamos la comunicación entre nuestra API y la base de datos.</a:t>
            </a:r>
          </a:p>
        </p:txBody>
      </p:sp>
    </p:spTree>
    <p:extLst>
      <p:ext uri="{BB962C8B-B14F-4D97-AF65-F5344CB8AC3E}">
        <p14:creationId xmlns:p14="http://schemas.microsoft.com/office/powerpoint/2010/main" val="3541453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CONCLUSION</a:t>
            </a:r>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fontScale="92500" lnSpcReduction="10000"/>
          </a:bodyPr>
          <a:lstStyle/>
          <a:p>
            <a:pPr marL="0" indent="0" algn="just">
              <a:buNone/>
            </a:pPr>
            <a:r>
              <a:rPr lang="es-MX" dirty="0"/>
              <a:t>	Durante este banco de ejercicios pusimos en práctica el funcionamiento de dos API REST desarrolladas con diferentes tecnologías, una utilizando Node.js y Express, y otra con Java y Spring </a:t>
            </a:r>
            <a:r>
              <a:rPr lang="es-MX" dirty="0" err="1"/>
              <a:t>Boot</a:t>
            </a:r>
            <a:r>
              <a:rPr lang="es-MX" dirty="0"/>
              <a:t>. Aprendimos a ejecutar ambos proyectos desde sus respectivos entornos de programación y a comprobar que los servidores estuvieran funcionando correctamente.</a:t>
            </a:r>
          </a:p>
          <a:p>
            <a:pPr marL="0" indent="0" algn="just">
              <a:buNone/>
            </a:pPr>
            <a:r>
              <a:rPr lang="es-MX" dirty="0"/>
              <a:t>También utilizamos Bruno para realizar peticiones mediante los métodos GET, POST, PUT y DELETE, lo que nos permitió consultar, registrar, modificar y eliminar información. Finalmente, trabajamos con </a:t>
            </a:r>
            <a:r>
              <a:rPr lang="es-MX" dirty="0" err="1"/>
              <a:t>pgAdmin</a:t>
            </a:r>
            <a:r>
              <a:rPr lang="es-MX" dirty="0"/>
              <a:t> 4 para verificar los cambios realizados en nuestras bases de datos PostgreSQL. Esta práctica nos ayudó a reforzar nuestros conocimientos sobre las API REST y a comprender mejor cómo se comunican las aplicaciones con las bases de datos.</a:t>
            </a:r>
          </a:p>
          <a:p>
            <a:pPr marL="0" indent="0" algn="just">
              <a:buNone/>
            </a:pPr>
            <a:endParaRPr lang="en-US" dirty="0"/>
          </a:p>
        </p:txBody>
      </p:sp>
    </p:spTree>
    <p:extLst>
      <p:ext uri="{BB962C8B-B14F-4D97-AF65-F5344CB8AC3E}">
        <p14:creationId xmlns:p14="http://schemas.microsoft.com/office/powerpoint/2010/main" val="501227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FUENTES DE INFORMACIÓN</a:t>
            </a:r>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US" dirty="0"/>
              <a:t>Node.js. (s. f.). </a:t>
            </a:r>
            <a:r>
              <a:rPr lang="en-US" i="1" dirty="0" err="1"/>
              <a:t>Documentación</a:t>
            </a:r>
            <a:r>
              <a:rPr lang="en-US" i="1" dirty="0"/>
              <a:t> </a:t>
            </a:r>
            <a:r>
              <a:rPr lang="en-US" i="1" dirty="0" err="1"/>
              <a:t>oficial</a:t>
            </a:r>
            <a:r>
              <a:rPr lang="en-US" i="1" dirty="0"/>
              <a:t> de Node.js</a:t>
            </a:r>
            <a:r>
              <a:rPr lang="en-US" dirty="0"/>
              <a:t>. </a:t>
            </a:r>
            <a:r>
              <a:rPr lang="en-US" dirty="0">
                <a:hlinkClick r:id="rId3"/>
              </a:rPr>
              <a:t>https://nodejs.org/docs/latest/api/</a:t>
            </a:r>
            <a:endParaRPr lang="en-US" dirty="0"/>
          </a:p>
          <a:p>
            <a:pPr>
              <a:buFont typeface="Arial" panose="020B0604020202020204" pitchFamily="34" charset="0"/>
              <a:buChar char="•"/>
            </a:pPr>
            <a:r>
              <a:rPr lang="en-US" dirty="0"/>
              <a:t>Express.js. (s. f.). </a:t>
            </a:r>
            <a:r>
              <a:rPr lang="en-US" i="1" dirty="0" err="1"/>
              <a:t>Guía</a:t>
            </a:r>
            <a:r>
              <a:rPr lang="en-US" i="1" dirty="0"/>
              <a:t> de Express</a:t>
            </a:r>
            <a:r>
              <a:rPr lang="en-US" dirty="0"/>
              <a:t>. </a:t>
            </a:r>
            <a:r>
              <a:rPr lang="en-US" dirty="0">
                <a:hlinkClick r:id="rId4"/>
              </a:rPr>
              <a:t>https://expressjs.com/es/guide/routing.html</a:t>
            </a:r>
            <a:endParaRPr lang="en-US" dirty="0"/>
          </a:p>
          <a:p>
            <a:pPr>
              <a:buFont typeface="Arial" panose="020B0604020202020204" pitchFamily="34" charset="0"/>
              <a:buChar char="•"/>
            </a:pPr>
            <a:r>
              <a:rPr lang="en-US" dirty="0"/>
              <a:t>Spring. (s. f.). </a:t>
            </a:r>
            <a:r>
              <a:rPr lang="en-US" i="1" dirty="0" err="1"/>
              <a:t>Documentación</a:t>
            </a:r>
            <a:r>
              <a:rPr lang="en-US" i="1" dirty="0"/>
              <a:t> </a:t>
            </a:r>
            <a:r>
              <a:rPr lang="en-US" i="1" dirty="0" err="1"/>
              <a:t>oficial</a:t>
            </a:r>
            <a:r>
              <a:rPr lang="en-US" i="1" dirty="0"/>
              <a:t> de Spring Boot</a:t>
            </a:r>
            <a:r>
              <a:rPr lang="en-US" dirty="0"/>
              <a:t>. </a:t>
            </a:r>
            <a:r>
              <a:rPr lang="en-US" dirty="0">
                <a:hlinkClick r:id="rId5"/>
              </a:rPr>
              <a:t>https://docs.spring.io/spring-boot/</a:t>
            </a:r>
            <a:endParaRPr lang="en-US" dirty="0"/>
          </a:p>
          <a:p>
            <a:pPr>
              <a:buFont typeface="Arial" panose="020B0604020202020204" pitchFamily="34" charset="0"/>
              <a:buChar char="•"/>
            </a:pPr>
            <a:r>
              <a:rPr lang="en-US" dirty="0"/>
              <a:t>Bruno. (s. f.). </a:t>
            </a:r>
            <a:r>
              <a:rPr lang="en-US" i="1" dirty="0" err="1"/>
              <a:t>Documentación</a:t>
            </a:r>
            <a:r>
              <a:rPr lang="en-US" i="1" dirty="0"/>
              <a:t> </a:t>
            </a:r>
            <a:r>
              <a:rPr lang="en-US" i="1" dirty="0" err="1"/>
              <a:t>oficial</a:t>
            </a:r>
            <a:r>
              <a:rPr lang="en-US" i="1" dirty="0"/>
              <a:t> de Bruno</a:t>
            </a:r>
            <a:r>
              <a:rPr lang="en-US" dirty="0"/>
              <a:t>. </a:t>
            </a:r>
            <a:r>
              <a:rPr lang="en-US" dirty="0">
                <a:hlinkClick r:id="rId6"/>
              </a:rPr>
              <a:t>https://docs.usebruno.com/</a:t>
            </a:r>
            <a:endParaRPr lang="en-US" dirty="0"/>
          </a:p>
          <a:p>
            <a:pPr>
              <a:buFont typeface="Arial" panose="020B0604020202020204" pitchFamily="34" charset="0"/>
              <a:buChar char="•"/>
            </a:pPr>
            <a:r>
              <a:rPr lang="en-US" dirty="0"/>
              <a:t>PostgreSQL Global Development Group. (s. f.). </a:t>
            </a:r>
            <a:r>
              <a:rPr lang="en-US" i="1" dirty="0" err="1"/>
              <a:t>Documentación</a:t>
            </a:r>
            <a:r>
              <a:rPr lang="en-US" i="1" dirty="0"/>
              <a:t> </a:t>
            </a:r>
            <a:r>
              <a:rPr lang="en-US" i="1" dirty="0" err="1"/>
              <a:t>oficial</a:t>
            </a:r>
            <a:r>
              <a:rPr lang="en-US" i="1" dirty="0"/>
              <a:t> de PostgreSQL</a:t>
            </a:r>
            <a:r>
              <a:rPr lang="en-US" dirty="0"/>
              <a:t>. </a:t>
            </a:r>
            <a:r>
              <a:rPr lang="en-US" dirty="0">
                <a:hlinkClick r:id="rId7"/>
              </a:rPr>
              <a:t>https://www.postgresql.org/docs/</a:t>
            </a:r>
            <a:endParaRPr lang="en-US" dirty="0"/>
          </a:p>
          <a:p>
            <a:pPr>
              <a:buFont typeface="Arial" panose="020B0604020202020204" pitchFamily="34" charset="0"/>
              <a:buChar char="•"/>
            </a:pPr>
            <a:r>
              <a:rPr lang="en-US" dirty="0" err="1"/>
              <a:t>pgAdmin</a:t>
            </a:r>
            <a:r>
              <a:rPr lang="en-US" dirty="0"/>
              <a:t> Development Team. (s. f.). </a:t>
            </a:r>
            <a:r>
              <a:rPr lang="en-US" i="1" dirty="0" err="1"/>
              <a:t>Documentación</a:t>
            </a:r>
            <a:r>
              <a:rPr lang="en-US" i="1" dirty="0"/>
              <a:t> de </a:t>
            </a:r>
            <a:r>
              <a:rPr lang="en-US" i="1" dirty="0" err="1"/>
              <a:t>pgAdmin</a:t>
            </a:r>
            <a:r>
              <a:rPr lang="en-US" i="1" dirty="0"/>
              <a:t> 4</a:t>
            </a:r>
            <a:r>
              <a:rPr lang="en-US" dirty="0"/>
              <a:t>. </a:t>
            </a:r>
            <a:r>
              <a:rPr lang="en-US" dirty="0">
                <a:hlinkClick r:id="rId8"/>
              </a:rPr>
              <a:t>https://www.pgadmin.org/docs/</a:t>
            </a:r>
            <a:endParaRPr lang="en-US" dirty="0"/>
          </a:p>
          <a:p>
            <a:pPr marL="0" indent="0" algn="just">
              <a:buNone/>
            </a:pPr>
            <a:endParaRPr lang="en-US" dirty="0"/>
          </a:p>
        </p:txBody>
      </p:sp>
    </p:spTree>
    <p:extLst>
      <p:ext uri="{BB962C8B-B14F-4D97-AF65-F5344CB8AC3E}">
        <p14:creationId xmlns:p14="http://schemas.microsoft.com/office/powerpoint/2010/main" val="240010492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1824</Words>
  <Application>Microsoft Office PowerPoint</Application>
  <PresentationFormat>Panorámica</PresentationFormat>
  <Paragraphs>57</Paragraphs>
  <Slides>18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18</vt:i4>
      </vt:variant>
    </vt:vector>
  </HeadingPairs>
  <TitlesOfParts>
    <vt:vector size="22" baseType="lpstr">
      <vt:lpstr>Arial</vt:lpstr>
      <vt:lpstr>Calibri</vt:lpstr>
      <vt:lpstr>Calibri Light</vt:lpstr>
      <vt:lpstr>Tema de Office</vt:lpstr>
      <vt:lpstr>Presentación de PowerPoint</vt:lpstr>
      <vt:lpstr>INTRODUCCIÓN</vt:lpstr>
      <vt:lpstr>JUSTIFICACIÓN</vt:lpstr>
      <vt:lpstr>BANCO DE EJERCICIOS</vt:lpstr>
      <vt:lpstr>Ejecución de la API REST con Node.js</vt:lpstr>
      <vt:lpstr>Prueba del método GET en Bruno</vt:lpstr>
      <vt:lpstr>Prueba del método post en Bruno</vt:lpstr>
      <vt:lpstr>Prueba del método PUT en Bruno</vt:lpstr>
      <vt:lpstr>Prueba del método DELETE en Bruno</vt:lpstr>
      <vt:lpstr>Verificación de registros en PostgreSQL mediante pgAdmin 4</vt:lpstr>
      <vt:lpstr>Ejecución de la API REST con Spring Boot</vt:lpstr>
      <vt:lpstr>Prueba del método GET en Bruno con Spring Boot</vt:lpstr>
      <vt:lpstr>Prueba del método POST en Bruno con Spring Boot</vt:lpstr>
      <vt:lpstr>Prueba del método PUT en Bruno con Spring Boot</vt:lpstr>
      <vt:lpstr>Prueba del método DELETE en Bruno con Spring Boot</vt:lpstr>
      <vt:lpstr>Verificación de registros en PostgreSQL mediante pgAdmin 4</vt:lpstr>
      <vt:lpstr>CONCLUSION</vt:lpstr>
      <vt:lpstr>FUENTES DE INFORMACIÓN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Amilcar Corona</dc:creator>
  <cp:lastModifiedBy>Amilcar Corona</cp:lastModifiedBy>
  <cp:revision>5</cp:revision>
  <dcterms:created xsi:type="dcterms:W3CDTF">2026-10-09T02:35:08Z</dcterms:created>
  <dcterms:modified xsi:type="dcterms:W3CDTF">2026-10-09T03:16:04Z</dcterms:modified>
</cp:coreProperties>
</file>