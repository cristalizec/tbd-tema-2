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DE0E0-C56A-4DFC-8659-4D1251112F5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D9F06092-CD9D-4D3F-81DF-9F4F26F73F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96E7720F-0C75-4DF6-9F74-B7D20C48F7B0}"/>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5" name="Marcador de pie de página 4">
            <a:extLst>
              <a:ext uri="{FF2B5EF4-FFF2-40B4-BE49-F238E27FC236}">
                <a16:creationId xmlns:a16="http://schemas.microsoft.com/office/drawing/2014/main" id="{ADCADF8A-5A73-4DFC-9651-F65152695D38}"/>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B63E2D9-E438-416B-B300-7C221340BF30}"/>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2735015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D9B61B-005B-4E50-954D-56AC0FB18B6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5F9BD9C1-EA6B-45A7-9819-57F01C6E3E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7CAB6B4A-03C7-4574-8427-AAD4E8188B4D}"/>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5" name="Marcador de pie de página 4">
            <a:extLst>
              <a:ext uri="{FF2B5EF4-FFF2-40B4-BE49-F238E27FC236}">
                <a16:creationId xmlns:a16="http://schemas.microsoft.com/office/drawing/2014/main" id="{1E2BBA48-1B04-4A4D-973E-8E925769CF2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4A2B655-690E-4681-B9CF-AEB9B9839CB7}"/>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2431870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1B72F5-A09F-46ED-A848-36369F4443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653611C5-CB35-4110-8CE0-226BA80AFB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B342528-0EEE-4BE0-AC64-E9059A960D43}"/>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5" name="Marcador de pie de página 4">
            <a:extLst>
              <a:ext uri="{FF2B5EF4-FFF2-40B4-BE49-F238E27FC236}">
                <a16:creationId xmlns:a16="http://schemas.microsoft.com/office/drawing/2014/main" id="{A33FA83B-CBA4-4B9B-8539-B5F106646FD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20E85A9-F6ED-41A9-B5E3-831291FE877B}"/>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CED94A-3214-40DE-BD83-2BF6A034D2B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DA19EF1-0FB2-4925-B043-D03497495AB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3B26DAD1-1234-4C8A-A32D-2DA59CC7D0D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024CC775-1B64-45E6-80B3-84BF2BF24646}"/>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6" name="Marcador de pie de página 5">
            <a:extLst>
              <a:ext uri="{FF2B5EF4-FFF2-40B4-BE49-F238E27FC236}">
                <a16:creationId xmlns:a16="http://schemas.microsoft.com/office/drawing/2014/main" id="{0D938DB6-DCA4-4BD9-82A5-6A5C07492A2C}"/>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4255DE9A-DE75-4541-848A-DCA095818AE4}"/>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2464183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3660AC-A310-4239-BD0D-4C465AB195B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25F0C8C5-6FC7-4173-A589-92F65BE2B7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F80CD7D-9FAC-4BE5-9FC4-46DC421C877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3A781BE7-37E6-4F2B-AC4A-9392F8A65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965AE32-9D0E-4A28-B770-B682687BA9C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148108C2-8EA3-4932-A26B-CD4382F61995}"/>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8" name="Marcador de pie de página 7">
            <a:extLst>
              <a:ext uri="{FF2B5EF4-FFF2-40B4-BE49-F238E27FC236}">
                <a16:creationId xmlns:a16="http://schemas.microsoft.com/office/drawing/2014/main" id="{BAA2D18C-141F-4A5E-A730-322E40FD3445}"/>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C84ED210-AD72-4CFC-B1B0-AF8B59EE7B24}"/>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3576659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736893-4CDD-4624-8A16-DF940548FBC9}"/>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7395FD53-9CA8-4308-B4FC-8BCB0EDB4827}"/>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4" name="Marcador de pie de página 3">
            <a:extLst>
              <a:ext uri="{FF2B5EF4-FFF2-40B4-BE49-F238E27FC236}">
                <a16:creationId xmlns:a16="http://schemas.microsoft.com/office/drawing/2014/main" id="{A82B27F8-877C-4FA7-88CF-AD994B875969}"/>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528C3376-2017-4EF6-AE17-72F754FE2641}"/>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2985844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A346B42-3CF0-4DF8-B52E-AA5CF9A40AE4}"/>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3" name="Marcador de pie de página 2">
            <a:extLst>
              <a:ext uri="{FF2B5EF4-FFF2-40B4-BE49-F238E27FC236}">
                <a16:creationId xmlns:a16="http://schemas.microsoft.com/office/drawing/2014/main" id="{C0517392-4380-4B73-9C3C-D8737B3386DF}"/>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115159D1-27FB-42C9-A4FD-2B99BA680DB6}"/>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1553794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E52FB0-E818-4F64-A32D-2481829D030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16D548C6-B39D-44B5-930A-744F8FEBAA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83EB3F50-C7A9-47B8-94BF-8A39E9B69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E5CEF60-D061-40A4-9F2B-15B25F73DC40}"/>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6" name="Marcador de pie de página 5">
            <a:extLst>
              <a:ext uri="{FF2B5EF4-FFF2-40B4-BE49-F238E27FC236}">
                <a16:creationId xmlns:a16="http://schemas.microsoft.com/office/drawing/2014/main" id="{765B84DA-2335-40D4-99CA-74D8CF86851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B50AF67D-7F9C-4F3B-8910-8D75E5427A65}"/>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665995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DBD3CC-28E2-4559-BE0D-2002092D93F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AB34CF24-F5B9-469E-93F9-9982C56903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4D46CD78-A4D3-4AD0-8E2A-586495093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52F0D64-777B-4221-B2E1-183260EF96F7}"/>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6" name="Marcador de pie de página 5">
            <a:extLst>
              <a:ext uri="{FF2B5EF4-FFF2-40B4-BE49-F238E27FC236}">
                <a16:creationId xmlns:a16="http://schemas.microsoft.com/office/drawing/2014/main" id="{E72EEEA9-19D1-4B01-A1B9-CD9EA22B61FE}"/>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431190F-C9A6-45CD-84BE-7B1AA2810C84}"/>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4294597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8D48FD-5F57-4897-9552-A8CDE791749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457AEB3-86B4-4A4F-9F76-D5B7F249F24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99FD73D2-0819-4BF9-9331-01218528BCB0}"/>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5" name="Marcador de pie de página 4">
            <a:extLst>
              <a:ext uri="{FF2B5EF4-FFF2-40B4-BE49-F238E27FC236}">
                <a16:creationId xmlns:a16="http://schemas.microsoft.com/office/drawing/2014/main" id="{69E99FD0-FCA1-421F-9220-D1062F943B7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3800EAA-6E5B-4430-959B-4DCDE20443DF}"/>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57718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BB27299-205E-4621-91DC-2A17EBE7E53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26449E6-05C8-447B-9FD3-E51DD37911E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6301908E-769D-4C09-A108-27FFBEF769D5}"/>
              </a:ext>
            </a:extLst>
          </p:cNvPr>
          <p:cNvSpPr>
            <a:spLocks noGrp="1"/>
          </p:cNvSpPr>
          <p:nvPr>
            <p:ph type="dt" sz="half" idx="10"/>
          </p:nvPr>
        </p:nvSpPr>
        <p:spPr/>
        <p:txBody>
          <a:bodyPr/>
          <a:lstStyle/>
          <a:p>
            <a:fld id="{42F5F501-45F3-474F-9A69-39DE433AB927}" type="datetimeFigureOut">
              <a:rPr lang="en-US" smtClean="0"/>
              <a:t>10/8/2026</a:t>
            </a:fld>
            <a:endParaRPr lang="en-US"/>
          </a:p>
        </p:txBody>
      </p:sp>
      <p:sp>
        <p:nvSpPr>
          <p:cNvPr id="5" name="Marcador de pie de página 4">
            <a:extLst>
              <a:ext uri="{FF2B5EF4-FFF2-40B4-BE49-F238E27FC236}">
                <a16:creationId xmlns:a16="http://schemas.microsoft.com/office/drawing/2014/main" id="{2A3B3940-1852-4CFA-8BBB-CC3E34E1C412}"/>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617063D0-85F6-4AA9-AB05-968EB81864A7}"/>
              </a:ext>
            </a:extLst>
          </p:cNvPr>
          <p:cNvSpPr>
            <a:spLocks noGrp="1"/>
          </p:cNvSpPr>
          <p:nvPr>
            <p:ph type="sldNum" sz="quarter" idx="12"/>
          </p:nvPr>
        </p:nvSpPr>
        <p:spPr/>
        <p:txBody>
          <a:bodyPr/>
          <a:lstStyle/>
          <a:p>
            <a:fld id="{DAB0BDE4-CDDF-48F9-A3F5-DCE2F3135BFC}" type="slidenum">
              <a:rPr lang="en-US" smtClean="0"/>
              <a:t>‹Nº›</a:t>
            </a:fld>
            <a:endParaRPr lang="en-US"/>
          </a:p>
        </p:txBody>
      </p:sp>
    </p:spTree>
    <p:extLst>
      <p:ext uri="{BB962C8B-B14F-4D97-AF65-F5344CB8AC3E}">
        <p14:creationId xmlns:p14="http://schemas.microsoft.com/office/powerpoint/2010/main" val="3165416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F68F399-08E4-4B67-B39D-ADEB738FA1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D2433DD8-10D8-4ED6-8BEE-79684081F1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39E4A781-80C3-44AE-83E1-87D49C1393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F5F501-45F3-474F-9A69-39DE433AB927}" type="datetimeFigureOut">
              <a:rPr lang="en-US" smtClean="0"/>
              <a:t>10/8/2026</a:t>
            </a:fld>
            <a:endParaRPr lang="en-US"/>
          </a:p>
        </p:txBody>
      </p:sp>
      <p:sp>
        <p:nvSpPr>
          <p:cNvPr id="5" name="Marcador de pie de página 4">
            <a:extLst>
              <a:ext uri="{FF2B5EF4-FFF2-40B4-BE49-F238E27FC236}">
                <a16:creationId xmlns:a16="http://schemas.microsoft.com/office/drawing/2014/main" id="{B0F602DA-6B07-447A-9CE2-2CE9BCB162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32EDAFA8-998A-4BE1-AF8C-F510EC9233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DE4-CDDF-48F9-A3F5-DCE2F3135BFC}" type="slidenum">
              <a:rPr lang="en-US" smtClean="0"/>
              <a:t>‹Nº›</a:t>
            </a:fld>
            <a:endParaRPr lang="en-US"/>
          </a:p>
        </p:txBody>
      </p:sp>
    </p:spTree>
    <p:extLst>
      <p:ext uri="{BB962C8B-B14F-4D97-AF65-F5344CB8AC3E}">
        <p14:creationId xmlns:p14="http://schemas.microsoft.com/office/powerpoint/2010/main" val="1882335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cs.spring.io/spring-boot/" TargetMode="External"/><Relationship Id="rId7" Type="http://schemas.openxmlformats.org/officeDocument/2006/relationships/hyperlink" Target="https://jakarta.ee/specifications/persistence/" TargetMode="Externa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hyperlink" Target="https://www.jetbrains.com/help/idea/" TargetMode="External"/><Relationship Id="rId5" Type="http://schemas.openxmlformats.org/officeDocument/2006/relationships/hyperlink" Target="https://docs.oracle.com/en/java/" TargetMode="External"/><Relationship Id="rId4" Type="http://schemas.openxmlformats.org/officeDocument/2006/relationships/hyperlink" Target="https://docs.spring.io/spring-data/jpa/referen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B55A-9E1F-8D29-0DCB-C47BC4F389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59DC9C-D120-BB42-C76E-04D768E9B672}"/>
              </a:ext>
            </a:extLst>
          </p:cNvPr>
          <p:cNvPicPr>
            <a:picLocks noChangeAspect="1"/>
          </p:cNvPicPr>
          <p:nvPr/>
        </p:nvPicPr>
        <p:blipFill>
          <a:blip r:embed="rId2"/>
          <a:stretch>
            <a:fillRect/>
          </a:stretch>
        </p:blipFill>
        <p:spPr>
          <a:xfrm>
            <a:off x="-1" y="0"/>
            <a:ext cx="12192001" cy="6883502"/>
          </a:xfrm>
          <a:prstGeom prst="rect">
            <a:avLst/>
          </a:prstGeom>
        </p:spPr>
      </p:pic>
      <p:sp>
        <p:nvSpPr>
          <p:cNvPr id="10" name="CuadroTexto 9">
            <a:extLst>
              <a:ext uri="{FF2B5EF4-FFF2-40B4-BE49-F238E27FC236}">
                <a16:creationId xmlns:a16="http://schemas.microsoft.com/office/drawing/2014/main" id="{FEAF6B11-374C-1FAD-7A54-8CF665967FFB}"/>
              </a:ext>
            </a:extLst>
          </p:cNvPr>
          <p:cNvSpPr txBox="1"/>
          <p:nvPr/>
        </p:nvSpPr>
        <p:spPr>
          <a:xfrm>
            <a:off x="1624007" y="1551303"/>
            <a:ext cx="8438293" cy="5094985"/>
          </a:xfrm>
          <a:prstGeom prst="rect">
            <a:avLst/>
          </a:prstGeom>
          <a:noFill/>
        </p:spPr>
        <p:txBody>
          <a:bodyPr wrap="square">
            <a:spAutoFit/>
          </a:bodyPr>
          <a:lstStyle/>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TECNOLOGICO NACIONAL DE MEXICO</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INSTITUTO TECNOLOGICO DE FRONTERA COMALAPA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CARRERA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INGENIERIA EN SISTEMAS COMPUTACIONALES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MATERIA </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dirty="0">
                <a:effectLst/>
                <a:latin typeface="Calibri" panose="020F0502020204030204" pitchFamily="34" charset="0"/>
                <a:ea typeface="Calibri" panose="020F0502020204030204" pitchFamily="34" charset="0"/>
                <a:cs typeface="Times New Roman" panose="02020603050405020304" pitchFamily="18" charset="0"/>
              </a:rPr>
              <a:t>TALLER DE BASE DE DATOS</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TRABAJO</a:t>
            </a:r>
          </a:p>
          <a:p>
            <a:pPr algn="ctr">
              <a:lnSpc>
                <a:spcPct val="107000"/>
              </a:lnSpc>
              <a:spcAft>
                <a:spcPts val="800"/>
              </a:spcAft>
              <a:buNone/>
            </a:pPr>
            <a:r>
              <a:rPr lang="es-MX" sz="1400" dirty="0">
                <a:latin typeface="Calibri" panose="020F0502020204030204" pitchFamily="34" charset="0"/>
                <a:ea typeface="Calibri" panose="020F0502020204030204" pitchFamily="34" charset="0"/>
                <a:cs typeface="Times New Roman" panose="02020603050405020304" pitchFamily="18" charset="0"/>
              </a:rPr>
              <a:t>ACTIVIDAD 2.1 REPORTE DE PRACTICA</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CATEDRATICO</a:t>
            </a:r>
          </a:p>
          <a:p>
            <a:pPr algn="ctr">
              <a:lnSpc>
                <a:spcPct val="107000"/>
              </a:lnSpc>
              <a:spcAft>
                <a:spcPts val="800"/>
              </a:spcAft>
            </a:pPr>
            <a:r>
              <a:rPr lang="es-ES" altLang="es-MX" sz="1400" dirty="0">
                <a:latin typeface="Calibri" panose="020F0502020204030204" pitchFamily="34" charset="0"/>
                <a:ea typeface="Calibri" panose="020F0502020204030204" pitchFamily="34" charset="0"/>
                <a:cs typeface="Calibri" panose="020F0502020204030204" pitchFamily="34" charset="0"/>
              </a:rPr>
              <a:t>ING. FRANCISCO JAVIER MINGO VELAZQUEZ </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ESTUDIANTE </a:t>
            </a:r>
          </a:p>
          <a:p>
            <a:pPr lvl="0" algn="ctr" defTabSz="914400" eaLnBrk="0" fontAlgn="base" hangingPunct="0">
              <a:spcBef>
                <a:spcPct val="0"/>
              </a:spcBef>
              <a:spcAft>
                <a:spcPct val="0"/>
              </a:spcAft>
            </a:pPr>
            <a:r>
              <a:rPr lang="es-MX" altLang="es-MX" sz="1400" dirty="0">
                <a:latin typeface="Calibri" panose="020F0502020204030204" pitchFamily="34" charset="0"/>
                <a:ea typeface="Calibri" panose="020F0502020204030204" pitchFamily="34" charset="0"/>
                <a:cs typeface="Calibri" panose="020F0502020204030204" pitchFamily="34" charset="0"/>
              </a:rPr>
              <a:t>AMILCAR AEJANDRO CORONA ESCOBAR - 2412600074</a:t>
            </a:r>
            <a:endParaRPr lang="es-MX" sz="1400"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buNone/>
            </a:pPr>
            <a:r>
              <a:rPr lang="es-MX" sz="1400" b="1" dirty="0">
                <a:effectLst/>
                <a:latin typeface="Calibri" panose="020F0502020204030204" pitchFamily="34" charset="0"/>
                <a:ea typeface="Calibri" panose="020F0502020204030204" pitchFamily="34" charset="0"/>
                <a:cs typeface="Times New Roman" panose="02020603050405020304" pitchFamily="18" charset="0"/>
              </a:rPr>
              <a:t>SEMESTRE </a:t>
            </a:r>
            <a:r>
              <a:rPr lang="es-MX" sz="1100" b="1" dirty="0">
                <a:effectLst/>
                <a:latin typeface="Calibri" panose="020F0502020204030204" pitchFamily="34" charset="0"/>
                <a:ea typeface="Calibri" panose="020F0502020204030204" pitchFamily="34" charset="0"/>
                <a:cs typeface="Times New Roman" panose="02020603050405020304" pitchFamily="18" charset="0"/>
              </a:rPr>
              <a:t>:</a:t>
            </a:r>
            <a:r>
              <a:rPr lang="es-MX" sz="1100" b="1" dirty="0">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buNone/>
            </a:pPr>
            <a:r>
              <a:rPr lang="es-MX" sz="1100" b="1" dirty="0">
                <a:effectLst/>
                <a:latin typeface="Calibri" panose="020F0502020204030204" pitchFamily="34" charset="0"/>
                <a:ea typeface="Calibri" panose="020F0502020204030204" pitchFamily="34" charset="0"/>
                <a:cs typeface="Times New Roman" panose="02020603050405020304" pitchFamily="18" charset="0"/>
              </a:rPr>
              <a:t>5</a:t>
            </a:r>
            <a:endParaRPr lang="es-MX"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400" b="1" dirty="0">
                <a:effectLst/>
                <a:latin typeface="Calibri" panose="020F0502020204030204" pitchFamily="34" charset="0"/>
                <a:ea typeface="Calibri" panose="020F0502020204030204" pitchFamily="34" charset="0"/>
                <a:cs typeface="Times New Roman" panose="02020603050405020304" pitchFamily="18" charset="0"/>
              </a:rPr>
              <a:t>FRONTERA COMALAPA FECHA DE ENTREGA:</a:t>
            </a:r>
            <a:r>
              <a:rPr lang="es-MX" sz="1100" b="1" dirty="0">
                <a:effectLst/>
                <a:latin typeface="Calibri" panose="020F0502020204030204" pitchFamily="34" charset="0"/>
                <a:ea typeface="Calibri" panose="020F0502020204030204" pitchFamily="34" charset="0"/>
                <a:cs typeface="Times New Roman" panose="02020603050405020304" pitchFamily="18" charset="0"/>
              </a:rPr>
              <a:t> </a:t>
            </a:r>
            <a:r>
              <a:rPr lang="es-ES" sz="1100" b="1" dirty="0">
                <a:effectLst/>
                <a:latin typeface="Arial" panose="020B0604020202020204" pitchFamily="34" charset="0"/>
                <a:ea typeface="Calibri" panose="020F0502020204030204" pitchFamily="34" charset="0"/>
                <a:cs typeface="Arial" panose="020B0604020202020204" pitchFamily="34" charset="0"/>
              </a:rPr>
              <a:t>08 DE </a:t>
            </a:r>
            <a:r>
              <a:rPr lang="es-ES" sz="1100" b="1" dirty="0">
                <a:latin typeface="Arial" panose="020B0604020202020204" pitchFamily="34" charset="0"/>
                <a:ea typeface="Calibri" panose="020F0502020204030204" pitchFamily="34" charset="0"/>
                <a:cs typeface="Arial" panose="020B0604020202020204" pitchFamily="34" charset="0"/>
              </a:rPr>
              <a:t>SEPTIEMBRE</a:t>
            </a:r>
            <a:r>
              <a:rPr lang="es-ES" sz="1100" b="1" dirty="0">
                <a:effectLst/>
                <a:latin typeface="Arial" panose="020B0604020202020204" pitchFamily="34" charset="0"/>
                <a:ea typeface="Calibri" panose="020F0502020204030204" pitchFamily="34" charset="0"/>
                <a:cs typeface="Arial" panose="020B0604020202020204" pitchFamily="34" charset="0"/>
              </a:rPr>
              <a:t> DEL 2026</a:t>
            </a:r>
            <a:endParaRPr lang="es-MX" altLang="es-MX" sz="1100" dirty="0">
              <a:latin typeface="Arial" panose="020B0604020202020204" pitchFamily="34" charset="0"/>
              <a:cs typeface="Arial" panose="020B0604020202020204" pitchFamily="34" charset="0"/>
            </a:endParaRPr>
          </a:p>
          <a:p>
            <a:pPr algn="ctr">
              <a:lnSpc>
                <a:spcPct val="107000"/>
              </a:lnSpc>
              <a:spcAft>
                <a:spcPts val="800"/>
              </a:spcAft>
              <a:buNone/>
            </a:pPr>
            <a:endParaRPr lang="es-MX" sz="105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magen 11" descr="Secretaría de Educación Pública | Secretaría de Educación ...">
            <a:extLst>
              <a:ext uri="{FF2B5EF4-FFF2-40B4-BE49-F238E27FC236}">
                <a16:creationId xmlns:a16="http://schemas.microsoft.com/office/drawing/2014/main" id="{EFECA14D-D8FE-EF74-7C06-2DF34B28693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692" b="89868" l="2338" r="96104">
                        <a14:foregroundMark x1="12208" y1="37885" x2="48312" y2="32599"/>
                        <a14:foregroundMark x1="48312" y1="32599" x2="29610" y2="48018"/>
                        <a14:foregroundMark x1="29610" y1="48018" x2="56364" y2="33480"/>
                        <a14:foregroundMark x1="56364" y1="33480" x2="83896" y2="40529"/>
                        <a14:foregroundMark x1="83896" y1="40529" x2="62078" y2="33480"/>
                        <a14:foregroundMark x1="62078" y1="33480" x2="40779" y2="49339"/>
                        <a14:foregroundMark x1="40779" y1="49339" x2="18961" y2="51542"/>
                        <a14:foregroundMark x1="18961" y1="51542" x2="73506" y2="18943"/>
                        <a14:foregroundMark x1="73506" y1="18943" x2="52987" y2="56828"/>
                        <a14:foregroundMark x1="52987" y1="56828" x2="78701" y2="30837"/>
                        <a14:foregroundMark x1="78701" y1="30837" x2="77662" y2="65198"/>
                        <a14:foregroundMark x1="8571" y1="57269" x2="4675" y2="58590"/>
                        <a14:foregroundMark x1="7532" y1="44493" x2="30390" y2="64317"/>
                        <a14:foregroundMark x1="30390" y1="64317" x2="25195" y2="78855"/>
                        <a14:foregroundMark x1="16883" y1="77093" x2="19740" y2="83700"/>
                        <a14:foregroundMark x1="11948" y1="72687" x2="12727" y2="77093"/>
                        <a14:foregroundMark x1="7532" y1="63877" x2="7532" y2="65198"/>
                        <a14:foregroundMark x1="7532" y1="65198" x2="7532" y2="65198"/>
                        <a14:foregroundMark x1="7532" y1="65198" x2="7532" y2="65198"/>
                        <a14:foregroundMark x1="7532" y1="65198" x2="7532" y2="65198"/>
                        <a14:foregroundMark x1="7532" y1="65198" x2="7532" y2="65198"/>
                        <a14:foregroundMark x1="7532" y1="65198" x2="2597" y2="55507"/>
                        <a14:foregroundMark x1="6753" y1="43612" x2="8052" y2="37885"/>
                        <a14:foregroundMark x1="12727" y1="30396" x2="10130" y2="37004"/>
                        <a14:foregroundMark x1="16364" y1="37004" x2="23117" y2="30396"/>
                        <a14:foregroundMark x1="37662" y1="64758" x2="44156" y2="65198"/>
                        <a14:foregroundMark x1="58961" y1="65198" x2="70390" y2="65198"/>
                        <a14:foregroundMark x1="58961" y1="62115" x2="48052" y2="65198"/>
                        <a14:foregroundMark x1="73247" y1="67841" x2="80519" y2="66079"/>
                        <a14:foregroundMark x1="83377" y1="54626" x2="94026" y2="52863"/>
                        <a14:foregroundMark x1="94545" y1="46256" x2="82338" y2="51101"/>
                        <a14:foregroundMark x1="82597" y1="40529" x2="94545" y2="47137"/>
                        <a14:foregroundMark x1="94805" y1="41410" x2="96104" y2="56388"/>
                        <a14:foregroundMark x1="93247" y1="41410" x2="91429" y2="43172"/>
                        <a14:foregroundMark x1="93506" y1="43172" x2="84675" y2="39648"/>
                        <a14:foregroundMark x1="88831" y1="39648" x2="89351" y2="36123"/>
                        <a14:foregroundMark x1="94805" y1="36123" x2="91169" y2="44493"/>
                        <a14:foregroundMark x1="95584" y1="51101" x2="95584" y2="40529"/>
                        <a14:foregroundMark x1="91169" y1="30396" x2="82597" y2="40529"/>
                      </a14:backgroundRemoval>
                    </a14:imgEffect>
                  </a14:imgLayer>
                </a14:imgProps>
              </a:ext>
              <a:ext uri="{28A0092B-C50C-407E-A947-70E740481C1C}">
                <a14:useLocalDpi xmlns:a14="http://schemas.microsoft.com/office/drawing/2010/main" val="0"/>
              </a:ext>
            </a:extLst>
          </a:blip>
          <a:srcRect/>
          <a:stretch>
            <a:fillRect/>
          </a:stretch>
        </p:blipFill>
        <p:spPr bwMode="auto">
          <a:xfrm>
            <a:off x="891096" y="519736"/>
            <a:ext cx="2667391" cy="1352480"/>
          </a:xfrm>
          <a:prstGeom prst="rect">
            <a:avLst/>
          </a:prstGeom>
          <a:noFill/>
          <a:ln>
            <a:noFill/>
          </a:ln>
        </p:spPr>
      </p:pic>
      <p:pic>
        <p:nvPicPr>
          <p:cNvPr id="14" name="Imagen 13" descr="Logos Oficiales – Tecnológico Nacional de México">
            <a:extLst>
              <a:ext uri="{FF2B5EF4-FFF2-40B4-BE49-F238E27FC236}">
                <a16:creationId xmlns:a16="http://schemas.microsoft.com/office/drawing/2014/main" id="{95213785-F39B-A169-C99D-1172B99500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2440" y="618059"/>
            <a:ext cx="2055088" cy="970177"/>
          </a:xfrm>
          <a:prstGeom prst="rect">
            <a:avLst/>
          </a:prstGeom>
          <a:noFill/>
          <a:ln>
            <a:noFill/>
          </a:ln>
        </p:spPr>
      </p:pic>
      <p:pic>
        <p:nvPicPr>
          <p:cNvPr id="16" name="Imagen 15" descr="TecNM | Tecnológico Nacional de México">
            <a:extLst>
              <a:ext uri="{FF2B5EF4-FFF2-40B4-BE49-F238E27FC236}">
                <a16:creationId xmlns:a16="http://schemas.microsoft.com/office/drawing/2014/main" id="{EB3A2178-9F41-48BC-3E38-CA8D606F8C26}"/>
              </a:ext>
            </a:extLst>
          </p:cNvPr>
          <p:cNvPicPr>
            <a:picLocks noChangeAspect="1"/>
          </p:cNvPicPr>
          <p:nvPr/>
        </p:nvPicPr>
        <p:blipFill>
          <a:blip r:embed="rId6">
            <a:extLst>
              <a:ext uri="{28A0092B-C50C-407E-A947-70E740481C1C}">
                <a14:useLocalDpi xmlns:a14="http://schemas.microsoft.com/office/drawing/2010/main" val="0"/>
              </a:ext>
            </a:extLst>
          </a:blip>
          <a:srcRect b="9635"/>
          <a:stretch>
            <a:fillRect/>
          </a:stretch>
        </p:blipFill>
        <p:spPr bwMode="auto">
          <a:xfrm>
            <a:off x="9085797" y="735091"/>
            <a:ext cx="1953006" cy="1127293"/>
          </a:xfrm>
          <a:prstGeom prst="rect">
            <a:avLst/>
          </a:prstGeom>
          <a:noFill/>
          <a:ln>
            <a:noFill/>
          </a:ln>
        </p:spPr>
      </p:pic>
    </p:spTree>
    <p:extLst>
      <p:ext uri="{BB962C8B-B14F-4D97-AF65-F5344CB8AC3E}">
        <p14:creationId xmlns:p14="http://schemas.microsoft.com/office/powerpoint/2010/main" val="283541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INTRODUCCIÓN</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marL="0" indent="0" algn="just">
              <a:buNone/>
            </a:pPr>
            <a:r>
              <a:rPr lang="es-MX" dirty="0"/>
              <a:t>	En esta práctica trabajamos en el desarrollo de una API REST utilizando el lenguaje de programación Java junto con Spring </a:t>
            </a:r>
            <a:r>
              <a:rPr lang="es-MX" dirty="0" err="1"/>
              <a:t>Boot</a:t>
            </a:r>
            <a:r>
              <a:rPr lang="es-MX" dirty="0"/>
              <a:t>, con el propósito de crear un sistema que permita administrar información relacionada con las evacuaciones en caso de tsunami. Para realizar este proyecto utilizamos IntelliJ IDEA, donde organizamos nuestro código en diferentes clases para manejar las zonas de riesgo, los refugios, las rutas de evacuación y los registros de evacuaciones.</a:t>
            </a:r>
          </a:p>
          <a:p>
            <a:pPr marL="0" indent="0" algn="just">
              <a:buNone/>
            </a:pPr>
            <a:r>
              <a:rPr lang="es-MX" dirty="0"/>
              <a:t>Durante el desarrollo utilizamos herramientas como Spring Data JPA para trabajar con la información almacenada en una base de datos. También implementamos los métodos GET, POST, PUT y DELETE, que permiten consultar, registrar, actualizar y eliminar información dentro de nuestro sistema.</a:t>
            </a:r>
          </a:p>
          <a:p>
            <a:pPr marL="0" indent="0" algn="just">
              <a:buNone/>
            </a:pPr>
            <a:endParaRPr lang="en-US" dirty="0"/>
          </a:p>
        </p:txBody>
      </p:sp>
    </p:spTree>
    <p:extLst>
      <p:ext uri="{BB962C8B-B14F-4D97-AF65-F5344CB8AC3E}">
        <p14:creationId xmlns:p14="http://schemas.microsoft.com/office/powerpoint/2010/main" val="278548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JUSTIFICACIÓN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lnSpcReduction="10000"/>
          </a:bodyPr>
          <a:lstStyle/>
          <a:p>
            <a:pPr marL="0" indent="0" algn="just">
              <a:buNone/>
            </a:pPr>
            <a:r>
              <a:rPr lang="es-MX" dirty="0"/>
              <a:t>	Esta práctica se realizó con la finalidad de comprender mejor cómo se desarrolla una API REST utilizando Java y Spring </a:t>
            </a:r>
            <a:r>
              <a:rPr lang="es-MX" dirty="0" err="1"/>
              <a:t>Boot</a:t>
            </a:r>
            <a:r>
              <a:rPr lang="es-MX" dirty="0"/>
              <a:t>, además de conocer la importancia de organizar correctamente las clases y establecer relaciones entre los datos.</a:t>
            </a:r>
          </a:p>
          <a:p>
            <a:pPr marL="0" indent="0" algn="just">
              <a:buNone/>
            </a:pPr>
            <a:r>
              <a:rPr lang="es-MX" dirty="0"/>
              <a:t>Elegimos trabajar con un sistema de evacuaciones por tsunami porque nos permite representar una situación donde es importante tener organizada la información sobre las zonas de riesgo, los refugios disponibles y las rutas de evacuación. Mediante este proyecto pudimos poner en práctica nuestros conocimientos de programación y bases de datos, aprendiendo cómo funcionan los controladores, las entidades y los repositorios dentro de una aplicación.</a:t>
            </a:r>
          </a:p>
          <a:p>
            <a:pPr marL="0" indent="0" algn="just">
              <a:buNone/>
            </a:pPr>
            <a:endParaRPr lang="en-US" dirty="0"/>
          </a:p>
        </p:txBody>
      </p:sp>
    </p:spTree>
    <p:extLst>
      <p:ext uri="{BB962C8B-B14F-4D97-AF65-F5344CB8AC3E}">
        <p14:creationId xmlns:p14="http://schemas.microsoft.com/office/powerpoint/2010/main" val="3597928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s-MX" b="1" dirty="0"/>
              <a:t>DESARROLLO DE LA API REST</a:t>
            </a: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a:bodyPr>
          <a:lstStyle/>
          <a:p>
            <a:pPr marL="0" indent="0" algn="just">
              <a:buNone/>
            </a:pPr>
            <a:r>
              <a:rPr lang="es-MX" dirty="0"/>
              <a:t>	Para comenzar con el desarrollo de nuestra API REST, utilizamos IntelliJ IDEA como entorno de programación y Java junto con Spring </a:t>
            </a:r>
            <a:r>
              <a:rPr lang="es-MX" dirty="0" err="1"/>
              <a:t>Boot</a:t>
            </a:r>
            <a:r>
              <a:rPr lang="es-MX" dirty="0"/>
              <a:t> para crear la estructura principal del sistema. Organizamos el proyecto mediante diferentes paquetes que contienen los controladores, las entidades y los repositorios, los cuales nos permiten manejar y relacionar la información. A continuación, mostraremos el procedimiento que seguimos para organizar las clases, configurar las funciones principales y preparar nuestra API para administrar los registros de evacuaciones.</a:t>
            </a:r>
          </a:p>
          <a:p>
            <a:pPr marL="0" indent="0" algn="just">
              <a:buNone/>
            </a:pPr>
            <a:endParaRPr lang="en-US" dirty="0"/>
          </a:p>
        </p:txBody>
      </p:sp>
    </p:spTree>
    <p:extLst>
      <p:ext uri="{BB962C8B-B14F-4D97-AF65-F5344CB8AC3E}">
        <p14:creationId xmlns:p14="http://schemas.microsoft.com/office/powerpoint/2010/main" val="1186230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0"/>
            <a:ext cx="10515600" cy="1325563"/>
          </a:xfrm>
        </p:spPr>
        <p:txBody>
          <a:bodyPr/>
          <a:lstStyle/>
          <a:p>
            <a:pPr algn="ctr"/>
            <a:r>
              <a:rPr lang="es-MX" b="1" dirty="0"/>
              <a:t>ESTRUCTURA DEL PROYECTO EN INTELLIJ IDEA</a:t>
            </a:r>
            <a:endParaRPr lang="en-US" b="1" dirty="0"/>
          </a:p>
        </p:txBody>
      </p:sp>
      <p:pic>
        <p:nvPicPr>
          <p:cNvPr id="8" name="Imagen 7">
            <a:extLst>
              <a:ext uri="{FF2B5EF4-FFF2-40B4-BE49-F238E27FC236}">
                <a16:creationId xmlns:a16="http://schemas.microsoft.com/office/drawing/2014/main" id="{027CD8F6-84C9-4C02-87E6-D017CF138A2A}"/>
              </a:ext>
            </a:extLst>
          </p:cNvPr>
          <p:cNvPicPr>
            <a:picLocks noChangeAspect="1"/>
          </p:cNvPicPr>
          <p:nvPr/>
        </p:nvPicPr>
        <p:blipFill>
          <a:blip r:embed="rId3"/>
          <a:stretch>
            <a:fillRect/>
          </a:stretch>
        </p:blipFill>
        <p:spPr>
          <a:xfrm>
            <a:off x="679954" y="1124777"/>
            <a:ext cx="3147976" cy="5544964"/>
          </a:xfrm>
          <a:prstGeom prst="rect">
            <a:avLst/>
          </a:prstGeom>
        </p:spPr>
      </p:pic>
      <p:sp>
        <p:nvSpPr>
          <p:cNvPr id="10" name="CuadroTexto 9">
            <a:extLst>
              <a:ext uri="{FF2B5EF4-FFF2-40B4-BE49-F238E27FC236}">
                <a16:creationId xmlns:a16="http://schemas.microsoft.com/office/drawing/2014/main" id="{CE0BEBDC-4435-41BD-9470-E410FDB61444}"/>
              </a:ext>
            </a:extLst>
          </p:cNvPr>
          <p:cNvSpPr txBox="1"/>
          <p:nvPr/>
        </p:nvSpPr>
        <p:spPr>
          <a:xfrm>
            <a:off x="4507885" y="2044877"/>
            <a:ext cx="5773271" cy="1477328"/>
          </a:xfrm>
          <a:prstGeom prst="rect">
            <a:avLst/>
          </a:prstGeom>
          <a:noFill/>
        </p:spPr>
        <p:txBody>
          <a:bodyPr wrap="square">
            <a:spAutoFit/>
          </a:bodyPr>
          <a:lstStyle/>
          <a:p>
            <a:pPr algn="just"/>
            <a:r>
              <a:rPr lang="es-MX" dirty="0"/>
              <a:t>En este paso organizamos nuestro proyecto en IntelliJ IDEA, donde creamos diferentes paquetes para separar los controladores, las entidades y los repositorios. Esta estructura nos ayuda a mantener el código ordenado y facilita el funcionamiento de nuestra API.</a:t>
            </a:r>
            <a:endParaRPr lang="en-US" dirty="0"/>
          </a:p>
        </p:txBody>
      </p:sp>
    </p:spTree>
    <p:extLst>
      <p:ext uri="{BB962C8B-B14F-4D97-AF65-F5344CB8AC3E}">
        <p14:creationId xmlns:p14="http://schemas.microsoft.com/office/powerpoint/2010/main" val="1432662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CONFIGURACIÓN DE LA CLASE MAINAPPLICATION.JAVA</a:t>
            </a:r>
            <a:endParaRPr lang="en-US" b="1" dirty="0"/>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416320"/>
          </a:xfrm>
          <a:prstGeom prst="rect">
            <a:avLst/>
          </a:prstGeom>
          <a:noFill/>
        </p:spPr>
        <p:txBody>
          <a:bodyPr wrap="square">
            <a:spAutoFit/>
          </a:bodyPr>
          <a:lstStyle/>
          <a:p>
            <a:pPr algn="just"/>
            <a:r>
              <a:rPr lang="es-MX" b="1" dirty="0"/>
              <a:t>En este paso trabajamos con la clase MainApplication.java, que es la encargada de iniciar nuestra API REST. Dentro de ella utilizamos la anotación @SpringBootApplication para configurar nuestra aplicación con Spring </a:t>
            </a:r>
            <a:r>
              <a:rPr lang="es-MX" b="1" dirty="0" err="1"/>
              <a:t>Boot</a:t>
            </a:r>
            <a:r>
              <a:rPr lang="es-MX" b="1" dirty="0"/>
              <a:t>. También agregamos el método </a:t>
            </a:r>
            <a:r>
              <a:rPr lang="es-MX" b="1" dirty="0" err="1"/>
              <a:t>main</a:t>
            </a:r>
            <a:r>
              <a:rPr lang="es-MX" b="1" dirty="0"/>
              <a:t>, que permite ejecutar el proyecto mediante </a:t>
            </a:r>
            <a:r>
              <a:rPr lang="es-MX" b="1" dirty="0" err="1"/>
              <a:t>SpringApplication.run</a:t>
            </a:r>
            <a:r>
              <a:rPr lang="es-MX" b="1" dirty="0"/>
              <a:t>(). Gracias a esta clase podemos poner en funcionamiento nuestro servidor y preparar la aplicación para recibir las peticiones relacionadas con las zonas de riesgo, refugios, rutas y evacuaciones.</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stretch>
            <a:fillRect/>
          </a:stretch>
        </p:blipFill>
        <p:spPr>
          <a:xfrm>
            <a:off x="403412" y="2294311"/>
            <a:ext cx="5531224" cy="3110412"/>
          </a:xfrm>
          <a:prstGeom prst="rect">
            <a:avLst/>
          </a:prstGeom>
        </p:spPr>
      </p:pic>
    </p:spTree>
    <p:extLst>
      <p:ext uri="{BB962C8B-B14F-4D97-AF65-F5344CB8AC3E}">
        <p14:creationId xmlns:p14="http://schemas.microsoft.com/office/powerpoint/2010/main" val="2013452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clase ZonaRiesgo.java</a:t>
            </a:r>
            <a:endParaRPr lang="en-US" b="1" dirty="0"/>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416320"/>
          </a:xfrm>
          <a:prstGeom prst="rect">
            <a:avLst/>
          </a:prstGeom>
          <a:noFill/>
        </p:spPr>
        <p:txBody>
          <a:bodyPr wrap="square">
            <a:spAutoFit/>
          </a:bodyPr>
          <a:lstStyle/>
          <a:p>
            <a:pPr algn="just"/>
            <a:r>
              <a:rPr lang="es-MX" b="1" dirty="0"/>
              <a:t>En este paso creamos la clase ZonaRiesgo.java dentro del paquete </a:t>
            </a:r>
            <a:r>
              <a:rPr lang="es-MX" b="1" dirty="0" err="1"/>
              <a:t>entity</a:t>
            </a:r>
            <a:r>
              <a:rPr lang="es-MX" b="1" dirty="0"/>
              <a:t>, con la finalidad de almacenar la información de las zonas que pueden verse afectadas por un tsunami. Dentro de esta clase definimos atributos como el nombre de la zona, su ubicación, el nivel de riesgo y la población estimada. También utilizamos las anotaciones @Entity y @Table para relacionar esta clase con una tabla de nuestra base de datos. Además, agregamos los constructores y los métodos </a:t>
            </a:r>
            <a:r>
              <a:rPr lang="es-MX" b="1" dirty="0" err="1"/>
              <a:t>getters</a:t>
            </a:r>
            <a:r>
              <a:rPr lang="es-MX" b="1" dirty="0"/>
              <a:t> y </a:t>
            </a:r>
            <a:r>
              <a:rPr lang="es-MX" b="1" dirty="0" err="1"/>
              <a:t>setters</a:t>
            </a:r>
            <a:r>
              <a:rPr lang="es-MX" b="1" dirty="0"/>
              <a:t> para poder acceder y modificar la información de cada zona de riesgo.</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3412" y="2294311"/>
            <a:ext cx="5531224" cy="3110411"/>
          </a:xfrm>
          <a:prstGeom prst="rect">
            <a:avLst/>
          </a:prstGeom>
        </p:spPr>
      </p:pic>
    </p:spTree>
    <p:extLst>
      <p:ext uri="{BB962C8B-B14F-4D97-AF65-F5344CB8AC3E}">
        <p14:creationId xmlns:p14="http://schemas.microsoft.com/office/powerpoint/2010/main" val="3796588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clase </a:t>
            </a:r>
            <a:r>
              <a:rPr lang="en-US" b="1" dirty="0"/>
              <a:t>Refugio.java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693319"/>
          </a:xfrm>
          <a:prstGeom prst="rect">
            <a:avLst/>
          </a:prstGeom>
          <a:noFill/>
        </p:spPr>
        <p:txBody>
          <a:bodyPr wrap="square">
            <a:spAutoFit/>
          </a:bodyPr>
          <a:lstStyle/>
          <a:p>
            <a:pPr algn="just"/>
            <a:r>
              <a:rPr lang="es-MX" b="1" dirty="0"/>
              <a:t>En este paso creamos la clase Refugio.java dentro del paquete </a:t>
            </a:r>
            <a:r>
              <a:rPr lang="es-MX" b="1" dirty="0" err="1"/>
              <a:t>entity</a:t>
            </a:r>
            <a:r>
              <a:rPr lang="es-MX" b="1" dirty="0"/>
              <a:t>, con el propósito de almacenar la información de los refugios disponibles en caso de un tsunami. Dentro de esta clase agregamos atributos como el nombre del refugio, su ubicación, la capacidad máxima de personas y un dato que indica si se encuentra disponible. También utilizamos las anotaciones @Entity y @Table para relacionar esta clase con la tabla refugios de nuestra base de datos. Finalmente, agregamos los constructores, </a:t>
            </a:r>
            <a:r>
              <a:rPr lang="es-MX" b="1" dirty="0" err="1"/>
              <a:t>getters</a:t>
            </a:r>
            <a:r>
              <a:rPr lang="es-MX" b="1" dirty="0"/>
              <a:t> y </a:t>
            </a:r>
            <a:r>
              <a:rPr lang="es-MX" b="1" dirty="0" err="1"/>
              <a:t>setters</a:t>
            </a:r>
            <a:r>
              <a:rPr lang="es-MX" b="1" dirty="0"/>
              <a:t> para poder manejar y modificar la información de cada refugio.</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3412" y="2298922"/>
            <a:ext cx="5531224" cy="3101188"/>
          </a:xfrm>
          <a:prstGeom prst="rect">
            <a:avLst/>
          </a:prstGeom>
        </p:spPr>
      </p:pic>
    </p:spTree>
    <p:extLst>
      <p:ext uri="{BB962C8B-B14F-4D97-AF65-F5344CB8AC3E}">
        <p14:creationId xmlns:p14="http://schemas.microsoft.com/office/powerpoint/2010/main" val="1199798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clase RutaEvacuacion.java</a:t>
            </a:r>
            <a:endParaRPr lang="en-US" b="1" dirty="0"/>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885384"/>
            <a:ext cx="5011274" cy="3693319"/>
          </a:xfrm>
          <a:prstGeom prst="rect">
            <a:avLst/>
          </a:prstGeom>
          <a:noFill/>
        </p:spPr>
        <p:txBody>
          <a:bodyPr wrap="square">
            <a:spAutoFit/>
          </a:bodyPr>
          <a:lstStyle/>
          <a:p>
            <a:pPr algn="just"/>
            <a:r>
              <a:rPr lang="es-MX" b="1" dirty="0"/>
              <a:t>En este paso creamos la clase RutaEvacuacion.java dentro del paquete </a:t>
            </a:r>
            <a:r>
              <a:rPr lang="es-MX" b="1" dirty="0" err="1"/>
              <a:t>entity</a:t>
            </a:r>
            <a:r>
              <a:rPr lang="es-MX" b="1" dirty="0"/>
              <a:t>, con la finalidad de almacenar la información de las rutas que pueden utilizarse durante una evacuación por tsunami. Dentro de esta clase definimos atributos como el nombre de la ruta, la distancia en kilómetros, el tiempo estimado de evacuación y su disponibilidad. También utilizamos las anotaciones @ManyToOne y @JoinColumn para relacionar cada ruta con una zona de riesgo y un refugio. Finalmente, agregamos los constructores, </a:t>
            </a:r>
            <a:r>
              <a:rPr lang="es-MX" b="1" dirty="0" err="1"/>
              <a:t>getters</a:t>
            </a:r>
            <a:r>
              <a:rPr lang="es-MX" b="1" dirty="0"/>
              <a:t> y </a:t>
            </a:r>
            <a:r>
              <a:rPr lang="es-MX" b="1" dirty="0" err="1"/>
              <a:t>setters</a:t>
            </a:r>
            <a:r>
              <a:rPr lang="es-MX" b="1" dirty="0"/>
              <a:t> para manejar la información de las rutas dentro de nuestro sistema.</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1419793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r>
              <a:rPr lang="es-MX" b="1" dirty="0"/>
              <a:t>Creación de la clase ZonaRiesgoRepository.java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693319"/>
          </a:xfrm>
          <a:prstGeom prst="rect">
            <a:avLst/>
          </a:prstGeom>
          <a:noFill/>
        </p:spPr>
        <p:txBody>
          <a:bodyPr wrap="square">
            <a:spAutoFit/>
          </a:bodyPr>
          <a:lstStyle/>
          <a:p>
            <a:pPr algn="just"/>
            <a:r>
              <a:rPr lang="es-MX" b="1" dirty="0"/>
              <a:t>En este paso creamos la interfaz ZonaRiesgoRepository.java dentro del paquete </a:t>
            </a:r>
            <a:r>
              <a:rPr lang="es-MX" b="1" dirty="0" err="1"/>
              <a:t>repository</a:t>
            </a:r>
            <a:r>
              <a:rPr lang="es-MX" b="1" dirty="0"/>
              <a:t>, con la finalidad de manejar la información de las zonas de riesgo almacenadas en nuestra base de datos. Para esto utilizamos </a:t>
            </a:r>
            <a:r>
              <a:rPr lang="es-MX" b="1" dirty="0" err="1"/>
              <a:t>JpaRepository</a:t>
            </a:r>
            <a:r>
              <a:rPr lang="es-MX" b="1" dirty="0"/>
              <a:t> de Spring Data JPA, que nos proporciona métodos para guardar, consultar, actualizar y eliminar registros sin necesidad de escribir directamente las consultas SQL. También indicamos que trabajaremos con la entidad </a:t>
            </a:r>
            <a:r>
              <a:rPr lang="es-MX" b="1" dirty="0" err="1"/>
              <a:t>ZonaRiesgo</a:t>
            </a:r>
            <a:r>
              <a:rPr lang="es-MX" b="1" dirty="0"/>
              <a:t> y que su identificador es de tipo Long, facilitando así la comunicación entre nuestra API y la base de datos.</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1259922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interfaz RutaEvacuacionRepository.java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693319"/>
          </a:xfrm>
          <a:prstGeom prst="rect">
            <a:avLst/>
          </a:prstGeom>
          <a:noFill/>
        </p:spPr>
        <p:txBody>
          <a:bodyPr wrap="square">
            <a:spAutoFit/>
          </a:bodyPr>
          <a:lstStyle/>
          <a:p>
            <a:pPr algn="just"/>
            <a:r>
              <a:rPr lang="es-MX" b="1" dirty="0"/>
              <a:t>En este paso creamos la interfaz RutaEvacuacionRepository.java dentro del paquete </a:t>
            </a:r>
            <a:r>
              <a:rPr lang="es-MX" b="1" dirty="0" err="1"/>
              <a:t>repository</a:t>
            </a:r>
            <a:r>
              <a:rPr lang="es-MX" b="1" dirty="0"/>
              <a:t>, con la finalidad de administrar la información de las rutas de evacuación almacenadas en nuestra base de datos. Para ello utilizamos </a:t>
            </a:r>
            <a:r>
              <a:rPr lang="es-MX" b="1" dirty="0" err="1"/>
              <a:t>JpaRepository</a:t>
            </a:r>
            <a:r>
              <a:rPr lang="es-MX" b="1" dirty="0"/>
              <a:t> de Spring Data JPA, que nos proporciona funciones para registrar, consultar, actualizar y eliminar rutas sin necesidad de escribir consultas SQL manualmente. También relacionamos esta interfaz con la entidad </a:t>
            </a:r>
            <a:r>
              <a:rPr lang="es-MX" b="1" dirty="0" err="1"/>
              <a:t>RutaEvacuacion</a:t>
            </a:r>
            <a:r>
              <a:rPr lang="es-MX" b="1" dirty="0"/>
              <a:t> y utilizamos Long como tipo de dato para identificar cada registro, facilitando el manejo de las rutas dentro de nuestro sistema.</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2875404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interfaz EvacuacionRepository.java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693319"/>
          </a:xfrm>
          <a:prstGeom prst="rect">
            <a:avLst/>
          </a:prstGeom>
          <a:noFill/>
        </p:spPr>
        <p:txBody>
          <a:bodyPr wrap="square">
            <a:spAutoFit/>
          </a:bodyPr>
          <a:lstStyle/>
          <a:p>
            <a:pPr algn="just"/>
            <a:r>
              <a:rPr lang="es-MX" b="1" dirty="0"/>
              <a:t>En este paso creamos la interfaz EvacuacionRepository.java dentro del paquete </a:t>
            </a:r>
            <a:r>
              <a:rPr lang="es-MX" b="1" dirty="0" err="1"/>
              <a:t>repository</a:t>
            </a:r>
            <a:r>
              <a:rPr lang="es-MX" b="1" dirty="0"/>
              <a:t>, con la finalidad de administrar los registros de evacuaciones almacenados en nuestra base de datos. Para ello utilizamos </a:t>
            </a:r>
            <a:r>
              <a:rPr lang="es-MX" b="1" dirty="0" err="1"/>
              <a:t>JpaRepository</a:t>
            </a:r>
            <a:r>
              <a:rPr lang="es-MX" b="1" dirty="0"/>
              <a:t> de Spring Data JPA, que nos permite guardar, consultar, actualizar y eliminar información sin necesidad de escribir consultas SQL manualmente. También relacionamos esta interfaz con la entidad </a:t>
            </a:r>
            <a:r>
              <a:rPr lang="es-MX" b="1" dirty="0" err="1"/>
              <a:t>Evacuacion</a:t>
            </a:r>
            <a:r>
              <a:rPr lang="es-MX" b="1" dirty="0"/>
              <a:t> y utilizamos Long como identificador de cada registro, facilitando el manejo de la información de las evacuaciones dentro de nuestra API REST.</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1028426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interfaz RutaEvacuacionRepository.java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693319"/>
          </a:xfrm>
          <a:prstGeom prst="rect">
            <a:avLst/>
          </a:prstGeom>
          <a:noFill/>
        </p:spPr>
        <p:txBody>
          <a:bodyPr wrap="square">
            <a:spAutoFit/>
          </a:bodyPr>
          <a:lstStyle/>
          <a:p>
            <a:pPr algn="just"/>
            <a:r>
              <a:rPr lang="es-MX" b="1" dirty="0"/>
              <a:t>En este paso creamos la interfaz RutaEvacuacionRepository.java dentro del paquete </a:t>
            </a:r>
            <a:r>
              <a:rPr lang="es-MX" b="1" dirty="0" err="1"/>
              <a:t>repository</a:t>
            </a:r>
            <a:r>
              <a:rPr lang="es-MX" b="1" dirty="0"/>
              <a:t>, con la finalidad de administrar la información de las rutas de evacuación almacenadas en nuestra base de datos. Para ello utilizamos </a:t>
            </a:r>
            <a:r>
              <a:rPr lang="es-MX" b="1" dirty="0" err="1"/>
              <a:t>JpaRepository</a:t>
            </a:r>
            <a:r>
              <a:rPr lang="es-MX" b="1" dirty="0"/>
              <a:t> de Spring Data JPA, que nos proporciona funciones para registrar, consultar, actualizar y eliminar rutas sin necesidad de escribir consultas SQL manualmente. También relacionamos esta interfaz con la entidad </a:t>
            </a:r>
            <a:r>
              <a:rPr lang="es-MX" b="1" dirty="0" err="1"/>
              <a:t>RutaEvacuacion</a:t>
            </a:r>
            <a:r>
              <a:rPr lang="es-MX" b="1" dirty="0"/>
              <a:t> y utilizamos Long como tipo de dato para identificar cada registro, facilitando el manejo de las rutas dentro de nuestro sistema.</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3412" y="2298922"/>
            <a:ext cx="5531224" cy="3101188"/>
          </a:xfrm>
          <a:prstGeom prst="rect">
            <a:avLst/>
          </a:prstGeom>
        </p:spPr>
      </p:pic>
    </p:spTree>
    <p:extLst>
      <p:ext uri="{BB962C8B-B14F-4D97-AF65-F5344CB8AC3E}">
        <p14:creationId xmlns:p14="http://schemas.microsoft.com/office/powerpoint/2010/main" val="1096330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just"/>
            <a:r>
              <a:rPr lang="es-MX" b="1" dirty="0"/>
              <a:t>Creación de la clase ZonaRiesgoController.java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4247317"/>
          </a:xfrm>
          <a:prstGeom prst="rect">
            <a:avLst/>
          </a:prstGeom>
          <a:noFill/>
        </p:spPr>
        <p:txBody>
          <a:bodyPr wrap="square">
            <a:spAutoFit/>
          </a:bodyPr>
          <a:lstStyle/>
          <a:p>
            <a:pPr algn="just"/>
            <a:r>
              <a:rPr lang="es-MX" b="1" dirty="0"/>
              <a:t>En este paso creamos la clase ZonaRiesgoController.java dentro del paquete </a:t>
            </a:r>
            <a:r>
              <a:rPr lang="es-MX" b="1" dirty="0" err="1"/>
              <a:t>controller</a:t>
            </a:r>
            <a:r>
              <a:rPr lang="es-MX" b="1" dirty="0"/>
              <a:t>, con la finalidad de manejar las peticiones relacionadas con las zonas de riesgo de nuestro sistema. Utilizamos las anotaciones @RestController y @RequestMapping para definir la ruta principal de nuestra API. También programamos los métodos GET, POST, PUT y DELETE, que nos permiten consultar, registrar, actualizar y eliminar zonas de riesgo. Para realizar estas operaciones utilizamos </a:t>
            </a:r>
            <a:r>
              <a:rPr lang="es-MX" b="1" dirty="0" err="1"/>
              <a:t>ZonaRiesgoRepository</a:t>
            </a:r>
            <a:r>
              <a:rPr lang="es-MX" b="1" dirty="0"/>
              <a:t>, que se encarga de comunicarse con la base de datos. Además, agregamos una validación para mostrar un error cuando se intenta buscar una zona que no existe.</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3389715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just"/>
            <a:r>
              <a:rPr lang="es-MX" b="1" dirty="0"/>
              <a:t>Creación de la clase RefugioController.java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4247317"/>
          </a:xfrm>
          <a:prstGeom prst="rect">
            <a:avLst/>
          </a:prstGeom>
          <a:noFill/>
        </p:spPr>
        <p:txBody>
          <a:bodyPr wrap="square">
            <a:spAutoFit/>
          </a:bodyPr>
          <a:lstStyle/>
          <a:p>
            <a:pPr algn="just"/>
            <a:r>
              <a:rPr lang="es-MX" b="1" dirty="0"/>
              <a:t>En este paso creamos la clase RefugioController.java dentro del paquete </a:t>
            </a:r>
            <a:r>
              <a:rPr lang="es-MX" b="1" dirty="0" err="1"/>
              <a:t>controller</a:t>
            </a:r>
            <a:r>
              <a:rPr lang="es-MX" b="1" dirty="0"/>
              <a:t>, con la finalidad de administrar la información de los refugios de nuestro sistema. Utilizamos las anotaciones @RestController y @RequestMapping para establecer la ruta principal de las peticiones. También implementamos los métodos GET, POST, PUT y DELETE, que nos permiten consultar, registrar, actualizar y eliminar refugios. Para realizar estas operaciones utilizamos </a:t>
            </a:r>
            <a:r>
              <a:rPr lang="es-MX" b="1" dirty="0" err="1"/>
              <a:t>RefugioRepository</a:t>
            </a:r>
            <a:r>
              <a:rPr lang="es-MX" b="1" dirty="0"/>
              <a:t>, que nos ayuda a manejar los datos almacenados en la base de datos. Además, agregamos una validación para mostrar un mensaje de error cuando el refugio solicitado no existe.</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1963242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clase RutaEvacuacionController.java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970318"/>
          </a:xfrm>
          <a:prstGeom prst="rect">
            <a:avLst/>
          </a:prstGeom>
          <a:noFill/>
        </p:spPr>
        <p:txBody>
          <a:bodyPr wrap="square">
            <a:spAutoFit/>
          </a:bodyPr>
          <a:lstStyle/>
          <a:p>
            <a:pPr algn="just"/>
            <a:r>
              <a:rPr lang="es-MX" b="1" dirty="0"/>
              <a:t>En este paso creamos la clase RutaEvacuacionController.java dentro del paquete </a:t>
            </a:r>
            <a:r>
              <a:rPr lang="es-MX" b="1" dirty="0" err="1"/>
              <a:t>controller</a:t>
            </a:r>
            <a:r>
              <a:rPr lang="es-MX" b="1" dirty="0"/>
              <a:t>, con la finalidad de administrar las rutas de evacuación de nuestro sistema. Implementamos los métodos GET, POST, PUT y DELETE para consultar, registrar, actualizar y eliminar rutas. También utilizamos los repositorios de rutas, zonas de riesgo y refugios para relacionar la información, permitiendo que cada ruta pertenezca a una zona de riesgo y tenga un refugio como destino. Además, agregamos validaciones para comprobar que los datos ingresados sean correctos y que las zonas y refugios existan en nuestra base de datos.</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2817431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r>
              <a:rPr lang="es-MX" b="1" dirty="0"/>
              <a:t>Creación de la clase EvacuacionController.java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970318"/>
          </a:xfrm>
          <a:prstGeom prst="rect">
            <a:avLst/>
          </a:prstGeom>
          <a:noFill/>
        </p:spPr>
        <p:txBody>
          <a:bodyPr wrap="square">
            <a:spAutoFit/>
          </a:bodyPr>
          <a:lstStyle/>
          <a:p>
            <a:pPr algn="just"/>
            <a:r>
              <a:rPr lang="es-MX" b="1" dirty="0"/>
              <a:t>En este paso creamos la clase EvacuacionController.java dentro del paquete </a:t>
            </a:r>
            <a:r>
              <a:rPr lang="es-MX" b="1" dirty="0" err="1"/>
              <a:t>controller</a:t>
            </a:r>
            <a:r>
              <a:rPr lang="es-MX" b="1" dirty="0"/>
              <a:t>, con la finalidad de administrar los registros de evacuaciones de nuestro sistema. Implementamos los métodos GET, POST, PUT y DELETE para consultar, registrar, actualizar y eliminar evacuaciones. También utilizamos los repositorios para relacionar cada evacuación con una zona de riesgo y una ruta de evacuación. Además, agregamos validaciones para comprobar que la cantidad de personas sea correcta, que el estado de la evacuación sea válido y que la ruta seleccionada corresponda a la zona de riesgo registrada.</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7"/>
          </a:xfrm>
          <a:prstGeom prst="rect">
            <a:avLst/>
          </a:prstGeom>
        </p:spPr>
      </p:pic>
    </p:spTree>
    <p:extLst>
      <p:ext uri="{BB962C8B-B14F-4D97-AF65-F5344CB8AC3E}">
        <p14:creationId xmlns:p14="http://schemas.microsoft.com/office/powerpoint/2010/main" val="3177842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clase RutaEvacuacionController.java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970318"/>
          </a:xfrm>
          <a:prstGeom prst="rect">
            <a:avLst/>
          </a:prstGeom>
          <a:noFill/>
        </p:spPr>
        <p:txBody>
          <a:bodyPr wrap="square">
            <a:spAutoFit/>
          </a:bodyPr>
          <a:lstStyle/>
          <a:p>
            <a:pPr algn="just"/>
            <a:r>
              <a:rPr lang="es-MX" b="1" dirty="0"/>
              <a:t>En este paso creamos la clase RutaEvacuacionController.java dentro del paquete </a:t>
            </a:r>
            <a:r>
              <a:rPr lang="es-MX" b="1" dirty="0" err="1"/>
              <a:t>controller</a:t>
            </a:r>
            <a:r>
              <a:rPr lang="es-MX" b="1" dirty="0"/>
              <a:t>, con la finalidad de administrar las rutas de evacuación de nuestro sistema. Implementamos los métodos GET, POST, PUT y DELETE para consultar, registrar, actualizar y eliminar rutas. También utilizamos los repositorios de rutas, zonas de riesgo y refugios para relacionar la información, permitiendo que cada ruta pertenezca a una zona de riesgo y tenga un refugio como destino. Además, agregamos validaciones para comprobar que los datos ingresados sean correctos y que las zonas y refugios existan en nuestra base de datos.</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3660499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clase RutaEvacuacionController.java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970318"/>
          </a:xfrm>
          <a:prstGeom prst="rect">
            <a:avLst/>
          </a:prstGeom>
          <a:noFill/>
        </p:spPr>
        <p:txBody>
          <a:bodyPr wrap="square">
            <a:spAutoFit/>
          </a:bodyPr>
          <a:lstStyle/>
          <a:p>
            <a:pPr algn="just"/>
            <a:r>
              <a:rPr lang="es-MX" b="1" dirty="0"/>
              <a:t>En este paso creamos la clase RutaEvacuacionController.java dentro del paquete </a:t>
            </a:r>
            <a:r>
              <a:rPr lang="es-MX" b="1" dirty="0" err="1"/>
              <a:t>controller</a:t>
            </a:r>
            <a:r>
              <a:rPr lang="es-MX" b="1" dirty="0"/>
              <a:t>, con la finalidad de administrar las rutas de evacuación de nuestro sistema. Implementamos los métodos GET, POST, PUT y DELETE para consultar, registrar, actualizar y eliminar rutas. También utilizamos los repositorios de rutas, zonas de riesgo y refugios para relacionar la información, permitiendo que cada ruta pertenezca a una zona de riesgo y tenga un refugio como destino. Además, agregamos validaciones para comprobar que los datos ingresados sean correctos y que las zonas y refugios existan en nuestra base de datos.</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3927863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0"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a:xfrm>
            <a:off x="838198" y="179295"/>
            <a:ext cx="10515600" cy="1325563"/>
          </a:xfrm>
        </p:spPr>
        <p:txBody>
          <a:bodyPr/>
          <a:lstStyle/>
          <a:p>
            <a:pPr algn="ctr"/>
            <a:r>
              <a:rPr lang="es-MX" b="1" dirty="0"/>
              <a:t>Creación de la clase RutaEvacuacionController.java</a:t>
            </a:r>
          </a:p>
        </p:txBody>
      </p:sp>
      <p:sp>
        <p:nvSpPr>
          <p:cNvPr id="10" name="CuadroTexto 9">
            <a:extLst>
              <a:ext uri="{FF2B5EF4-FFF2-40B4-BE49-F238E27FC236}">
                <a16:creationId xmlns:a16="http://schemas.microsoft.com/office/drawing/2014/main" id="{CE0BEBDC-4435-41BD-9470-E410FDB61444}"/>
              </a:ext>
            </a:extLst>
          </p:cNvPr>
          <p:cNvSpPr txBox="1"/>
          <p:nvPr/>
        </p:nvSpPr>
        <p:spPr>
          <a:xfrm>
            <a:off x="6342524" y="1914519"/>
            <a:ext cx="5011274" cy="3970318"/>
          </a:xfrm>
          <a:prstGeom prst="rect">
            <a:avLst/>
          </a:prstGeom>
          <a:noFill/>
        </p:spPr>
        <p:txBody>
          <a:bodyPr wrap="square">
            <a:spAutoFit/>
          </a:bodyPr>
          <a:lstStyle/>
          <a:p>
            <a:pPr algn="just"/>
            <a:r>
              <a:rPr lang="es-MX" b="1" dirty="0"/>
              <a:t>En este paso creamos la clase RutaEvacuacionController.java dentro del paquete </a:t>
            </a:r>
            <a:r>
              <a:rPr lang="es-MX" b="1" dirty="0" err="1"/>
              <a:t>controller</a:t>
            </a:r>
            <a:r>
              <a:rPr lang="es-MX" b="1" dirty="0"/>
              <a:t>, con la finalidad de administrar las rutas de evacuación de nuestro sistema. Implementamos los métodos GET, POST, PUT y DELETE para consultar, registrar, actualizar y eliminar rutas. También utilizamos los repositorios de rutas, zonas de riesgo y refugios para relacionar la información, permitiendo que cada ruta pertenezca a una zona de riesgo y tenga un refugio como destino. Además, agregamos validaciones para comprobar que los datos ingresados sean correctos y que las zonas y refugios existan en nuestra base de datos.</a:t>
            </a:r>
          </a:p>
        </p:txBody>
      </p:sp>
      <p:pic>
        <p:nvPicPr>
          <p:cNvPr id="5" name="Imagen 4">
            <a:extLst>
              <a:ext uri="{FF2B5EF4-FFF2-40B4-BE49-F238E27FC236}">
                <a16:creationId xmlns:a16="http://schemas.microsoft.com/office/drawing/2014/main" id="{D22799A7-E3E6-4DD3-98BA-DC56461CA1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1613" y="2298922"/>
            <a:ext cx="5514821" cy="3101188"/>
          </a:xfrm>
          <a:prstGeom prst="rect">
            <a:avLst/>
          </a:prstGeom>
        </p:spPr>
      </p:pic>
    </p:spTree>
    <p:extLst>
      <p:ext uri="{BB962C8B-B14F-4D97-AF65-F5344CB8AC3E}">
        <p14:creationId xmlns:p14="http://schemas.microsoft.com/office/powerpoint/2010/main" val="1783699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CONCLUSIÓN</a:t>
            </a:r>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fontScale="92500" lnSpcReduction="10000"/>
          </a:bodyPr>
          <a:lstStyle/>
          <a:p>
            <a:pPr marL="0" indent="0" algn="just">
              <a:buNone/>
            </a:pPr>
            <a:r>
              <a:rPr lang="es-MX" dirty="0"/>
              <a:t>	Durante esta práctica aprendimos cómo desarrollar una API REST utilizando Java y Spring </a:t>
            </a:r>
            <a:r>
              <a:rPr lang="es-MX" dirty="0" err="1"/>
              <a:t>Boot</a:t>
            </a:r>
            <a:r>
              <a:rPr lang="es-MX" dirty="0"/>
              <a:t>, trabajando desde IntelliJ IDEA. A lo largo del procedimiento creamos diferentes clases para administrar la información de las zonas de riesgo, refugios, rutas de evacuación y evacuaciones, organizando nuestro proyecto mediante entidades, repositorios y controladores.</a:t>
            </a:r>
          </a:p>
          <a:p>
            <a:pPr marL="0" indent="0" algn="just">
              <a:buNone/>
            </a:pPr>
            <a:r>
              <a:rPr lang="es-MX" dirty="0"/>
              <a:t>También comprendimos la importancia de relacionar correctamente las entidades y utilizar Spring Data JPA para facilitar el manejo de la información en una base de datos. Además, implementamos los métodos GET, POST, PUT y DELETE, junto con diferentes validaciones para controlar los datos ingresados. Esta práctica nos ayudó a reforzar nuestros conocimientos de programación y bases de datos, así como a comprender mejor cómo se estructura y desarrolla una API REST.</a:t>
            </a:r>
          </a:p>
          <a:p>
            <a:pPr marL="0" indent="0" algn="just">
              <a:buNone/>
            </a:pPr>
            <a:endParaRPr lang="en-US" dirty="0"/>
          </a:p>
        </p:txBody>
      </p:sp>
    </p:spTree>
    <p:extLst>
      <p:ext uri="{BB962C8B-B14F-4D97-AF65-F5344CB8AC3E}">
        <p14:creationId xmlns:p14="http://schemas.microsoft.com/office/powerpoint/2010/main" val="2061035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0983-25F6-6542-0359-0B5D9BDB37A9}"/>
            </a:ext>
          </a:extLst>
        </p:cNvPr>
        <p:cNvGrpSpPr/>
        <p:nvPr/>
      </p:nvGrpSpPr>
      <p:grpSpPr>
        <a:xfrm>
          <a:off x="0" y="0"/>
          <a:ext cx="0" cy="0"/>
          <a:chOff x="0" y="0"/>
          <a:chExt cx="0" cy="0"/>
        </a:xfrm>
      </p:grpSpPr>
      <p:pic>
        <p:nvPicPr>
          <p:cNvPr id="4" name="Imagen 3" descr="Imagen de Story Pin">
            <a:extLst>
              <a:ext uri="{FF2B5EF4-FFF2-40B4-BE49-F238E27FC236}">
                <a16:creationId xmlns:a16="http://schemas.microsoft.com/office/drawing/2014/main" id="{40956737-5E7E-5BA8-D87A-FC61257D6380}"/>
              </a:ext>
            </a:extLst>
          </p:cNvPr>
          <p:cNvPicPr>
            <a:picLocks noChangeAspect="1"/>
          </p:cNvPicPr>
          <p:nvPr/>
        </p:nvPicPr>
        <p:blipFill>
          <a:blip r:embed="rId2"/>
          <a:stretch>
            <a:fillRect/>
          </a:stretch>
        </p:blipFill>
        <p:spPr>
          <a:xfrm>
            <a:off x="-1" y="0"/>
            <a:ext cx="12191999" cy="6858000"/>
          </a:xfrm>
          <a:prstGeom prst="rect">
            <a:avLst/>
          </a:prstGeom>
        </p:spPr>
      </p:pic>
      <p:sp>
        <p:nvSpPr>
          <p:cNvPr id="3" name="Título 2">
            <a:extLst>
              <a:ext uri="{FF2B5EF4-FFF2-40B4-BE49-F238E27FC236}">
                <a16:creationId xmlns:a16="http://schemas.microsoft.com/office/drawing/2014/main" id="{61874A03-EDA9-40DC-B697-6417E63AA626}"/>
              </a:ext>
            </a:extLst>
          </p:cNvPr>
          <p:cNvSpPr>
            <a:spLocks noGrp="1"/>
          </p:cNvSpPr>
          <p:nvPr>
            <p:ph type="title"/>
          </p:nvPr>
        </p:nvSpPr>
        <p:spPr/>
        <p:txBody>
          <a:bodyPr/>
          <a:lstStyle/>
          <a:p>
            <a:pPr algn="ctr"/>
            <a:r>
              <a:rPr lang="en-US" b="1" dirty="0"/>
              <a:t>REFERENCIAS BIBLIOGRÁFICAS</a:t>
            </a:r>
            <a:br>
              <a:rPr lang="en-US" dirty="0"/>
            </a:br>
            <a:endParaRPr lang="en-US" b="1" dirty="0"/>
          </a:p>
        </p:txBody>
      </p:sp>
      <p:sp>
        <p:nvSpPr>
          <p:cNvPr id="5" name="Marcador de contenido 4">
            <a:extLst>
              <a:ext uri="{FF2B5EF4-FFF2-40B4-BE49-F238E27FC236}">
                <a16:creationId xmlns:a16="http://schemas.microsoft.com/office/drawing/2014/main" id="{320313A1-9BA8-42DC-A182-0EC489D144E5}"/>
              </a:ext>
            </a:extLst>
          </p:cNvPr>
          <p:cNvSpPr>
            <a:spLocks noGrp="1"/>
          </p:cNvSpPr>
          <p:nvPr>
            <p:ph idx="1"/>
          </p:nvPr>
        </p:nvSpPr>
        <p:spPr/>
        <p:txBody>
          <a:bodyPr>
            <a:normAutofit lnSpcReduction="10000"/>
          </a:bodyPr>
          <a:lstStyle/>
          <a:p>
            <a:pPr>
              <a:buFont typeface="Arial" panose="020B0604020202020204" pitchFamily="34" charset="0"/>
              <a:buChar char="•"/>
            </a:pPr>
            <a:r>
              <a:rPr lang="es-MX" dirty="0"/>
              <a:t>	Spring. (s. f.). </a:t>
            </a:r>
            <a:r>
              <a:rPr lang="es-MX" i="1" dirty="0"/>
              <a:t>Spring </a:t>
            </a:r>
            <a:r>
              <a:rPr lang="es-MX" i="1" dirty="0" err="1"/>
              <a:t>Boot</a:t>
            </a:r>
            <a:r>
              <a:rPr lang="es-MX" i="1" dirty="0"/>
              <a:t>: Documentación oficial</a:t>
            </a:r>
            <a:r>
              <a:rPr lang="es-MX" dirty="0"/>
              <a:t>. </a:t>
            </a:r>
            <a:r>
              <a:rPr lang="es-MX" dirty="0">
                <a:hlinkClick r:id="rId3"/>
              </a:rPr>
              <a:t>https://docs.spring.io/spring-boot/</a:t>
            </a:r>
            <a:endParaRPr lang="es-MX" dirty="0"/>
          </a:p>
          <a:p>
            <a:pPr>
              <a:buFont typeface="Arial" panose="020B0604020202020204" pitchFamily="34" charset="0"/>
              <a:buChar char="•"/>
            </a:pPr>
            <a:r>
              <a:rPr lang="es-MX" dirty="0"/>
              <a:t>Spring. (s. f.). </a:t>
            </a:r>
            <a:r>
              <a:rPr lang="es-MX" i="1" dirty="0"/>
              <a:t>Spring Data JPA: Documentación oficial</a:t>
            </a:r>
            <a:r>
              <a:rPr lang="es-MX" dirty="0"/>
              <a:t>. </a:t>
            </a:r>
            <a:r>
              <a:rPr lang="es-MX" dirty="0">
                <a:hlinkClick r:id="rId4"/>
              </a:rPr>
              <a:t>https://docs.spring.io/spring-data/jpa/reference/</a:t>
            </a:r>
            <a:endParaRPr lang="es-MX" dirty="0"/>
          </a:p>
          <a:p>
            <a:pPr>
              <a:buFont typeface="Arial" panose="020B0604020202020204" pitchFamily="34" charset="0"/>
              <a:buChar char="•"/>
            </a:pPr>
            <a:r>
              <a:rPr lang="es-MX" dirty="0"/>
              <a:t>Oracle. (s. f.). </a:t>
            </a:r>
            <a:r>
              <a:rPr lang="es-MX" i="1" dirty="0"/>
              <a:t>Documentación oficial de Java</a:t>
            </a:r>
            <a:r>
              <a:rPr lang="es-MX" dirty="0"/>
              <a:t>. </a:t>
            </a:r>
            <a:r>
              <a:rPr lang="es-MX" dirty="0">
                <a:hlinkClick r:id="rId5"/>
              </a:rPr>
              <a:t>https://docs.oracle.com/en/java/</a:t>
            </a:r>
            <a:endParaRPr lang="es-MX" dirty="0"/>
          </a:p>
          <a:p>
            <a:pPr>
              <a:buFont typeface="Arial" panose="020B0604020202020204" pitchFamily="34" charset="0"/>
              <a:buChar char="•"/>
            </a:pPr>
            <a:r>
              <a:rPr lang="es-MX" dirty="0" err="1"/>
              <a:t>JetBrains</a:t>
            </a:r>
            <a:r>
              <a:rPr lang="es-MX" dirty="0"/>
              <a:t>. (s. f.). </a:t>
            </a:r>
            <a:r>
              <a:rPr lang="es-MX" i="1" dirty="0"/>
              <a:t>Documentación de IntelliJ IDEA</a:t>
            </a:r>
            <a:r>
              <a:rPr lang="es-MX" dirty="0"/>
              <a:t>. </a:t>
            </a:r>
            <a:r>
              <a:rPr lang="es-MX" dirty="0">
                <a:hlinkClick r:id="rId6"/>
              </a:rPr>
              <a:t>https://www.jetbrains.com/help/idea/</a:t>
            </a:r>
            <a:endParaRPr lang="es-MX" dirty="0"/>
          </a:p>
          <a:p>
            <a:pPr>
              <a:buFont typeface="Arial" panose="020B0604020202020204" pitchFamily="34" charset="0"/>
              <a:buChar char="•"/>
            </a:pPr>
            <a:r>
              <a:rPr lang="es-MX" dirty="0" err="1"/>
              <a:t>Jakarta</a:t>
            </a:r>
            <a:r>
              <a:rPr lang="es-MX" dirty="0"/>
              <a:t> EE. (s. f.). </a:t>
            </a:r>
            <a:r>
              <a:rPr lang="es-MX" i="1" dirty="0" err="1"/>
              <a:t>Jakarta</a:t>
            </a:r>
            <a:r>
              <a:rPr lang="es-MX" i="1" dirty="0"/>
              <a:t> </a:t>
            </a:r>
            <a:r>
              <a:rPr lang="es-MX" i="1" dirty="0" err="1"/>
              <a:t>Persistence</a:t>
            </a:r>
            <a:r>
              <a:rPr lang="es-MX" dirty="0"/>
              <a:t>. </a:t>
            </a:r>
            <a:r>
              <a:rPr lang="es-MX" dirty="0">
                <a:hlinkClick r:id="rId7"/>
              </a:rPr>
              <a:t>https://jakarta.ee/specifications/persistence/</a:t>
            </a:r>
            <a:endParaRPr lang="es-MX" dirty="0"/>
          </a:p>
          <a:p>
            <a:pPr marL="0" indent="0" algn="just">
              <a:buNone/>
            </a:pPr>
            <a:endParaRPr lang="en-US" dirty="0"/>
          </a:p>
        </p:txBody>
      </p:sp>
    </p:spTree>
    <p:extLst>
      <p:ext uri="{BB962C8B-B14F-4D97-AF65-F5344CB8AC3E}">
        <p14:creationId xmlns:p14="http://schemas.microsoft.com/office/powerpoint/2010/main" val="28185943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TotalTime>
  <Words>2307</Words>
  <Application>Microsoft Office PowerPoint</Application>
  <PresentationFormat>Panorámica</PresentationFormat>
  <Paragraphs>64</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Calibri</vt:lpstr>
      <vt:lpstr>Calibri Light</vt:lpstr>
      <vt:lpstr>Tema de Office</vt:lpstr>
      <vt:lpstr>Presentación de PowerPoint</vt:lpstr>
      <vt:lpstr>INTRODUCCIÓN</vt:lpstr>
      <vt:lpstr>JUSTIFICACIÓN</vt:lpstr>
      <vt:lpstr>DESARROLLO DE LA API REST</vt:lpstr>
      <vt:lpstr>ESTRUCTURA DEL PROYECTO EN INTELLIJ IDEA</vt:lpstr>
      <vt:lpstr>CONFIGURACIÓN DE LA CLASE MAINAPPLICATION.JAVA</vt:lpstr>
      <vt:lpstr>Creación de la clase ZonaRiesgo.java</vt:lpstr>
      <vt:lpstr>Creación de la clase Refugio.java</vt:lpstr>
      <vt:lpstr>Creación de la clase RutaEvacuacion.java</vt:lpstr>
      <vt:lpstr>Creación de la clase ZonaRiesgoRepository.java</vt:lpstr>
      <vt:lpstr>Creación de la interfaz RutaEvacuacionRepository.java</vt:lpstr>
      <vt:lpstr>Creación de la interfaz EvacuacionRepository.java</vt:lpstr>
      <vt:lpstr>Creación de la interfaz RutaEvacuacionRepository.java</vt:lpstr>
      <vt:lpstr>Creación de la clase ZonaRiesgoController.java</vt:lpstr>
      <vt:lpstr>Creación de la clase RefugioController.java</vt:lpstr>
      <vt:lpstr>Creación de la clase RutaEvacuacionController.java</vt:lpstr>
      <vt:lpstr>Creación de la clase EvacuacionController.java</vt:lpstr>
      <vt:lpstr>Creación de la clase RutaEvacuacionController.java</vt:lpstr>
      <vt:lpstr>Creación de la clase RutaEvacuacionController.java</vt:lpstr>
      <vt:lpstr>Creación de la clase RutaEvacuacionController.java</vt:lpstr>
      <vt:lpstr>CONCLUSIÓN</vt:lpstr>
      <vt:lpstr>REFERENCIAS BIBLIOGRÁFICAS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Amilcar Corona</dc:creator>
  <cp:lastModifiedBy>Amilcar Corona</cp:lastModifiedBy>
  <cp:revision>6</cp:revision>
  <dcterms:created xsi:type="dcterms:W3CDTF">2026-10-08T19:52:54Z</dcterms:created>
  <dcterms:modified xsi:type="dcterms:W3CDTF">2026-10-09T02:25:33Z</dcterms:modified>
</cp:coreProperties>
</file>