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3" r:id="rId3"/>
    <p:sldId id="264" r:id="rId4"/>
    <p:sldId id="267" r:id="rId5"/>
    <p:sldId id="265" r:id="rId6"/>
    <p:sldId id="266" r:id="rId7"/>
    <p:sldId id="268" r:id="rId8"/>
    <p:sldId id="269" r:id="rId9"/>
    <p:sldId id="270" r:id="rId10"/>
    <p:sldId id="271"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E94C28-2064-4239-936D-5095B683B0A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E6EB7FCE-D693-4041-A284-72DFDB8548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4E20A20A-9774-492C-B59A-C5AFE681FBAD}"/>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E0609EA5-D35B-4484-ABDF-8121DED967E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AF54F6C-D025-4303-AA40-689AB6F2CC96}"/>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14516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961FD-2C9B-46AD-9E59-6C199BB981C5}"/>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DF50CB1E-04B2-47EC-8E0D-3339377D791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D6F392E-3A1D-468D-8511-AAE3C6144B04}"/>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87AE547D-C0FF-4FF4-88CB-0A515DBD22E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C15FB11-E405-4459-A2EC-CF64E0908E9B}"/>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752042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94684-0010-4E65-9EBE-F2CA5FB1FA9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90E37219-9538-447F-A48E-3CBF9E1AC2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F90D54-00A9-4F98-9BB0-03356093F0DC}"/>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70977F60-EB7F-4CD3-A9FF-C7251C3ECBE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D33272C-B3F4-4C97-8BAA-CE455AB32BA9}"/>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2610531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82F5BD-6FB2-434F-AA89-F86C9001128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D0B4EC6F-70E5-4872-863A-6E73EB529DF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6792919F-FF2E-47A6-A77A-DDA9DE80EA0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2B1BC71D-822B-454B-88D3-D5ACFB3AD497}"/>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6" name="Marcador de pie de página 5">
            <a:extLst>
              <a:ext uri="{FF2B5EF4-FFF2-40B4-BE49-F238E27FC236}">
                <a16:creationId xmlns:a16="http://schemas.microsoft.com/office/drawing/2014/main" id="{B62727BD-E260-46F0-B6EE-CBF82160CD2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DAFB94F6-7857-4D76-9A7F-A4AA51B58979}"/>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2603252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158A25-8C47-492A-8319-1EC8DCA164B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CF583D7E-E4A0-4A12-A0D9-CC53464B13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F07659-DCEC-43F3-A0CB-0CDE112B927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A30A6171-600C-4B26-94FC-E842D93E7F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3BCB558-FA6C-4B9A-924E-3F39F95DC6B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36698A60-B555-4C6F-B0D1-DCA9A9D27EA5}"/>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8" name="Marcador de pie de página 7">
            <a:extLst>
              <a:ext uri="{FF2B5EF4-FFF2-40B4-BE49-F238E27FC236}">
                <a16:creationId xmlns:a16="http://schemas.microsoft.com/office/drawing/2014/main" id="{8368BFD5-8CC2-4D32-8E1D-AE323BEBAC42}"/>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73C5584C-4DF1-4B06-80B6-571C64FFEB50}"/>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155149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E8DDDA-B1AB-4EB0-93CC-2EF7DBFD120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16C26676-5CC3-4DEA-996A-4454119B352A}"/>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4" name="Marcador de pie de página 3">
            <a:extLst>
              <a:ext uri="{FF2B5EF4-FFF2-40B4-BE49-F238E27FC236}">
                <a16:creationId xmlns:a16="http://schemas.microsoft.com/office/drawing/2014/main" id="{7543196E-BF18-4357-8E13-1E139FB46D49}"/>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E3B6EAE0-5F6F-4F23-BC25-FA673ECA797A}"/>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3998066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30AF3D0-F22C-4FE9-A5AC-9A2FD7FDA898}"/>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3" name="Marcador de pie de página 2">
            <a:extLst>
              <a:ext uri="{FF2B5EF4-FFF2-40B4-BE49-F238E27FC236}">
                <a16:creationId xmlns:a16="http://schemas.microsoft.com/office/drawing/2014/main" id="{3F7B23D2-6F99-453F-AB86-758A89836BCE}"/>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656EF63-D566-4F54-80AD-E0BE01A7662E}"/>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1471477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4555CF-C8D9-4811-BEB4-269EA7CA9B5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19C8D736-88FC-4B76-A6BB-EC37B191DC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A530334D-43CF-4A4F-8E43-7E299AF786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FFC28AB-9B76-4ECD-B9CE-13895D0F4C95}"/>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6" name="Marcador de pie de página 5">
            <a:extLst>
              <a:ext uri="{FF2B5EF4-FFF2-40B4-BE49-F238E27FC236}">
                <a16:creationId xmlns:a16="http://schemas.microsoft.com/office/drawing/2014/main" id="{6409C6E3-915F-45E1-9AA7-FE6075D1FFA7}"/>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23D509EB-0C91-4A9F-8873-18BA36D88A87}"/>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2937012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135933-5421-4ECA-A6CF-F1F43787C8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9C832C1B-4449-459A-B071-BF751B734A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631F6F69-34AE-4E63-9C8A-DF8FF5B53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500C41D-4762-4FE2-9DD3-C9EAA6466040}"/>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6" name="Marcador de pie de página 5">
            <a:extLst>
              <a:ext uri="{FF2B5EF4-FFF2-40B4-BE49-F238E27FC236}">
                <a16:creationId xmlns:a16="http://schemas.microsoft.com/office/drawing/2014/main" id="{D4810103-63AB-4508-A987-1FB911C8403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2C0FE27-FA71-4C57-BD93-38976B9AC35E}"/>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358131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397903-01D4-4608-8B08-EF05E1F007F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D0BFF64-BCDE-4C37-98BA-82FBF4C5090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FAA4CC1-5FF1-43EC-A2E7-A6401695A8D2}"/>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1591A4BC-3428-4F75-A952-99FE27B0F4D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32FDA8B-891C-48C2-91C0-4757698D25CC}"/>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97337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7B2F2BE-E3B1-43FB-B017-E54F98FAA09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CD9A0B6A-8C10-4C8D-95E8-4469ED841AA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78D50FB-BEC5-4376-A3A9-30E4FA1269ED}"/>
              </a:ext>
            </a:extLst>
          </p:cNvPr>
          <p:cNvSpPr>
            <a:spLocks noGrp="1"/>
          </p:cNvSpPr>
          <p:nvPr>
            <p:ph type="dt" sz="half" idx="10"/>
          </p:nvPr>
        </p:nvSpPr>
        <p:spPr/>
        <p:txBody>
          <a:body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4E4439CA-D146-4DA9-8244-2AEE5EC8F9B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DE34994-12C5-43E5-953A-76F85EBC7699}"/>
              </a:ext>
            </a:extLst>
          </p:cNvPr>
          <p:cNvSpPr>
            <a:spLocks noGrp="1"/>
          </p:cNvSpPr>
          <p:nvPr>
            <p:ph type="sldNum" sz="quarter" idx="12"/>
          </p:nvPr>
        </p:nvSpPr>
        <p:spPr/>
        <p:txBody>
          <a:bodyPr/>
          <a:lstStyle/>
          <a:p>
            <a:fld id="{74CEABDB-2AFC-40DD-95DE-630CB5FB7081}" type="slidenum">
              <a:rPr lang="en-US" smtClean="0"/>
              <a:t>‹Nº›</a:t>
            </a:fld>
            <a:endParaRPr lang="en-US"/>
          </a:p>
        </p:txBody>
      </p:sp>
    </p:spTree>
    <p:extLst>
      <p:ext uri="{BB962C8B-B14F-4D97-AF65-F5344CB8AC3E}">
        <p14:creationId xmlns:p14="http://schemas.microsoft.com/office/powerpoint/2010/main" val="53846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7AEF3C7-0615-495C-AE28-33CACADCE8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817BBB00-2370-4326-928A-85CB113ECB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60E79FAC-B714-47D0-B20E-31094F8EF9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691A82-1947-4E27-A791-3C5686F9E43E}" type="datetimeFigureOut">
              <a:rPr lang="en-US" smtClean="0"/>
              <a:t>10/8/2026</a:t>
            </a:fld>
            <a:endParaRPr lang="en-US"/>
          </a:p>
        </p:txBody>
      </p:sp>
      <p:sp>
        <p:nvSpPr>
          <p:cNvPr id="5" name="Marcador de pie de página 4">
            <a:extLst>
              <a:ext uri="{FF2B5EF4-FFF2-40B4-BE49-F238E27FC236}">
                <a16:creationId xmlns:a16="http://schemas.microsoft.com/office/drawing/2014/main" id="{11089A1D-9C8E-407B-A1C6-EE9994722E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E7CFD31D-3A0D-4336-8CAD-34C87ABF00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EABDB-2AFC-40DD-95DE-630CB5FB7081}" type="slidenum">
              <a:rPr lang="en-US" smtClean="0"/>
              <a:t>‹Nº›</a:t>
            </a:fld>
            <a:endParaRPr lang="en-US"/>
          </a:p>
        </p:txBody>
      </p:sp>
    </p:spTree>
    <p:extLst>
      <p:ext uri="{BB962C8B-B14F-4D97-AF65-F5344CB8AC3E}">
        <p14:creationId xmlns:p14="http://schemas.microsoft.com/office/powerpoint/2010/main" val="222383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nodejs.org/learn/getting-started/introduction-to-nodejs"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www.pgadmin.org/docs/" TargetMode="External"/><Relationship Id="rId5" Type="http://schemas.openxmlformats.org/officeDocument/2006/relationships/hyperlink" Target="https://www.postgresql.org/docs/" TargetMode="External"/><Relationship Id="rId4" Type="http://schemas.openxmlformats.org/officeDocument/2006/relationships/hyperlink" Target="https://expressjs.com/es/guide/routing/"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a:effectLst/>
                <a:latin typeface="Calibri" panose="020F0502020204030204" pitchFamily="34" charset="0"/>
                <a:ea typeface="Calibri" panose="020F0502020204030204" pitchFamily="34" charset="0"/>
                <a:cs typeface="Times New Roman" panose="02020603050405020304" pitchFamily="18" charset="0"/>
              </a:rPr>
              <a:t>TALLER DE BASE DE DATOS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2.3 REPORTE DE PRACTICA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effectLst/>
                <a:latin typeface="Arial" panose="020B0604020202020204" pitchFamily="34" charset="0"/>
                <a:ea typeface="Calibri" panose="020F0502020204030204" pitchFamily="34" charset="0"/>
                <a:cs typeface="Arial" panose="020B0604020202020204" pitchFamily="34" charset="0"/>
              </a:rPr>
              <a:t>18 DE </a:t>
            </a:r>
            <a:r>
              <a:rPr lang="es-ES" sz="1100" b="1" dirty="0">
                <a:latin typeface="Arial" panose="020B0604020202020204" pitchFamily="34" charset="0"/>
                <a:ea typeface="Calibri" panose="020F0502020204030204" pitchFamily="34" charset="0"/>
                <a:cs typeface="Arial" panose="020B0604020202020204" pitchFamily="34" charset="0"/>
              </a:rPr>
              <a:t>SEPTIEMBRE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INTRODUCCIÓN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lgn="just">
              <a:buNone/>
            </a:pPr>
            <a:r>
              <a:rPr lang="es-MX" dirty="0"/>
              <a:t>	En esta práctica trabajamos con una API REST para un sistema de inventario y ventas, utilizando Visual Studio </a:t>
            </a:r>
            <a:r>
              <a:rPr lang="es-MX" dirty="0" err="1"/>
              <a:t>Code</a:t>
            </a:r>
            <a:r>
              <a:rPr lang="es-MX" dirty="0"/>
              <a:t>, Node.js, Express y PostgreSQL. El objetivo fue aprender cómo funciona la conexión entre una aplicación y una base de datos, además de conocer cómo se pueden consultar, agregar, modificar y eliminar productos.</a:t>
            </a:r>
          </a:p>
          <a:p>
            <a:pPr marL="0" indent="0" algn="just">
              <a:buNone/>
            </a:pPr>
            <a:r>
              <a:rPr lang="es-MX" dirty="0"/>
              <a:t>También utilizamos el programa Bruno, que nos permitió realizar pruebas a nuestra API mediante los métodos GET, POST, PUT y DELETE. Durante la práctica configuramos la conexión con la base de datos, ejecutamos el servidor y comenzamos a trabajar con las peticiones necesarias para administrar la información de los productos.</a:t>
            </a:r>
          </a:p>
          <a:p>
            <a:pPr marL="0" indent="0" algn="just">
              <a:buNone/>
            </a:pPr>
            <a:endParaRPr lang="en-US" dirty="0"/>
          </a:p>
        </p:txBody>
      </p:sp>
    </p:spTree>
    <p:extLst>
      <p:ext uri="{BB962C8B-B14F-4D97-AF65-F5344CB8AC3E}">
        <p14:creationId xmlns:p14="http://schemas.microsoft.com/office/powerpoint/2010/main" val="27854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JUSTIFICACIÓN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lgn="just">
              <a:buNone/>
            </a:pPr>
            <a:r>
              <a:rPr lang="es-MX" dirty="0"/>
              <a:t>	Esta práctica se realizó para comprender mejor cómo funcionan las API REST y su relación con las bases de datos, ya que son herramientas importantes en el desarrollo de sistemas informáticos.</a:t>
            </a:r>
          </a:p>
          <a:p>
            <a:pPr marL="0" indent="0" algn="just">
              <a:buNone/>
            </a:pPr>
            <a:r>
              <a:rPr lang="es-MX" dirty="0"/>
              <a:t>Mediante esta actividad pudimos poner en práctica los conocimientos sobre PostgreSQL y aprender a utilizar Bruno para enviar peticiones al servidor. Además, nos ayudó a entender cómo se pueden administrar los productos de un inventario sin necesidad de contar con una interfaz gráfica, utilizando directamente las peticiones HTTP para trabajar con la información almacenada en la base de datos.</a:t>
            </a:r>
          </a:p>
          <a:p>
            <a:pPr marL="0" indent="0" algn="just">
              <a:buNone/>
            </a:pPr>
            <a:endParaRPr lang="en-US" dirty="0"/>
          </a:p>
        </p:txBody>
      </p:sp>
    </p:spTree>
    <p:extLst>
      <p:ext uri="{BB962C8B-B14F-4D97-AF65-F5344CB8AC3E}">
        <p14:creationId xmlns:p14="http://schemas.microsoft.com/office/powerpoint/2010/main" val="297851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r>
              <a:rPr lang="es-MX" b="1" dirty="0"/>
              <a:t>Apertura del proyecto en Visual Studio </a:t>
            </a:r>
            <a:r>
              <a:rPr lang="es-MX" b="1" dirty="0" err="1"/>
              <a:t>Code</a:t>
            </a:r>
            <a:endParaRPr lang="es-MX"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lgn="just">
              <a:buNone/>
            </a:pPr>
            <a:r>
              <a:rPr lang="es-MX" dirty="0"/>
              <a:t>	Para comenzar con nuestra práctica, trabajamos en el desarrollo de una API REST utilizando Node.js y Express, herramientas que nos permiten crear un servidor y manejar las solicitudes de información. También utilizamos PostgreSQL para almacenar los datos de nuestro sistema de inventario y ventas. Durante el procedimiento trabajamos con Visual Studio </a:t>
            </a:r>
            <a:r>
              <a:rPr lang="es-MX" dirty="0" err="1"/>
              <a:t>Code</a:t>
            </a:r>
            <a:r>
              <a:rPr lang="es-MX" dirty="0"/>
              <a:t>, donde organizamos los archivos del proyecto, configuramos la conexión con la base de datos y preparamos las funciones necesarias para registrar, consultar, actualizar y eliminar productos.</a:t>
            </a:r>
          </a:p>
          <a:p>
            <a:pPr marL="0" indent="0" algn="just">
              <a:buNone/>
            </a:pPr>
            <a:endParaRPr lang="en-US" dirty="0"/>
          </a:p>
        </p:txBody>
      </p:sp>
    </p:spTree>
    <p:extLst>
      <p:ext uri="{BB962C8B-B14F-4D97-AF65-F5344CB8AC3E}">
        <p14:creationId xmlns:p14="http://schemas.microsoft.com/office/powerpoint/2010/main" val="107801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Configuración del proyecto en Visual Studio </a:t>
            </a:r>
            <a:r>
              <a:rPr lang="es-MX" b="1" dirty="0" err="1"/>
              <a:t>Code</a:t>
            </a:r>
            <a:endParaRPr lang="es-MX" b="1" dirty="0"/>
          </a:p>
        </p:txBody>
      </p:sp>
      <p:pic>
        <p:nvPicPr>
          <p:cNvPr id="8" name="Imagen 7">
            <a:extLst>
              <a:ext uri="{FF2B5EF4-FFF2-40B4-BE49-F238E27FC236}">
                <a16:creationId xmlns:a16="http://schemas.microsoft.com/office/drawing/2014/main" id="{6ACD2530-E5EF-49F6-B20E-C20B8C1343DC}"/>
              </a:ext>
            </a:extLst>
          </p:cNvPr>
          <p:cNvPicPr>
            <a:picLocks noChangeAspect="1"/>
          </p:cNvPicPr>
          <p:nvPr/>
        </p:nvPicPr>
        <p:blipFill>
          <a:blip r:embed="rId3"/>
          <a:stretch>
            <a:fillRect/>
          </a:stretch>
        </p:blipFill>
        <p:spPr>
          <a:xfrm>
            <a:off x="224118" y="2162167"/>
            <a:ext cx="6070879" cy="3413880"/>
          </a:xfrm>
          <a:prstGeom prst="rect">
            <a:avLst/>
          </a:prstGeom>
        </p:spPr>
      </p:pic>
      <p:sp>
        <p:nvSpPr>
          <p:cNvPr id="10" name="CuadroTexto 9">
            <a:extLst>
              <a:ext uri="{FF2B5EF4-FFF2-40B4-BE49-F238E27FC236}">
                <a16:creationId xmlns:a16="http://schemas.microsoft.com/office/drawing/2014/main" id="{AD91C143-6DB3-42AA-876C-1C0D27A380C1}"/>
              </a:ext>
            </a:extLst>
          </p:cNvPr>
          <p:cNvSpPr txBox="1"/>
          <p:nvPr/>
        </p:nvSpPr>
        <p:spPr>
          <a:xfrm>
            <a:off x="6813176" y="2690336"/>
            <a:ext cx="4616824" cy="1477328"/>
          </a:xfrm>
          <a:prstGeom prst="rect">
            <a:avLst/>
          </a:prstGeom>
          <a:noFill/>
        </p:spPr>
        <p:txBody>
          <a:bodyPr wrap="square">
            <a:spAutoFit/>
          </a:bodyPr>
          <a:lstStyle/>
          <a:p>
            <a:pPr algn="just"/>
            <a:r>
              <a:rPr lang="es-MX" b="1" dirty="0"/>
              <a:t>En este paso abrimos nuestro proyecto en Visual Studio </a:t>
            </a:r>
            <a:r>
              <a:rPr lang="es-MX" b="1" dirty="0" err="1"/>
              <a:t>Code</a:t>
            </a:r>
            <a:r>
              <a:rPr lang="es-MX" b="1" dirty="0"/>
              <a:t>, donde encontramos los archivos necesarios para ejecutar la API. También revisamos el archivo .</a:t>
            </a:r>
            <a:r>
              <a:rPr lang="es-MX" b="1" dirty="0" err="1"/>
              <a:t>env</a:t>
            </a:r>
            <a:r>
              <a:rPr lang="es-MX" b="1" dirty="0"/>
              <a:t>, que contiene la configuración.</a:t>
            </a:r>
            <a:endParaRPr lang="en-US" b="1" dirty="0"/>
          </a:p>
        </p:txBody>
      </p:sp>
    </p:spTree>
    <p:extLst>
      <p:ext uri="{BB962C8B-B14F-4D97-AF65-F5344CB8AC3E}">
        <p14:creationId xmlns:p14="http://schemas.microsoft.com/office/powerpoint/2010/main" val="1471598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Programación y conexión de la API con PostgreSQL</a:t>
            </a:r>
          </a:p>
        </p:txBody>
      </p:sp>
      <p:pic>
        <p:nvPicPr>
          <p:cNvPr id="8" name="Imagen 7">
            <a:extLst>
              <a:ext uri="{FF2B5EF4-FFF2-40B4-BE49-F238E27FC236}">
                <a16:creationId xmlns:a16="http://schemas.microsoft.com/office/drawing/2014/main" id="{6ACD2530-E5EF-49F6-B20E-C20B8C1343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4118" y="2162167"/>
            <a:ext cx="6070879" cy="3413879"/>
          </a:xfrm>
          <a:prstGeom prst="rect">
            <a:avLst/>
          </a:prstGeom>
        </p:spPr>
      </p:pic>
      <p:sp>
        <p:nvSpPr>
          <p:cNvPr id="10" name="CuadroTexto 9">
            <a:extLst>
              <a:ext uri="{FF2B5EF4-FFF2-40B4-BE49-F238E27FC236}">
                <a16:creationId xmlns:a16="http://schemas.microsoft.com/office/drawing/2014/main" id="{AD91C143-6DB3-42AA-876C-1C0D27A380C1}"/>
              </a:ext>
            </a:extLst>
          </p:cNvPr>
          <p:cNvSpPr txBox="1"/>
          <p:nvPr/>
        </p:nvSpPr>
        <p:spPr>
          <a:xfrm>
            <a:off x="6736976" y="1882728"/>
            <a:ext cx="4616824" cy="3693319"/>
          </a:xfrm>
          <a:prstGeom prst="rect">
            <a:avLst/>
          </a:prstGeom>
          <a:noFill/>
        </p:spPr>
        <p:txBody>
          <a:bodyPr wrap="square">
            <a:spAutoFit/>
          </a:bodyPr>
          <a:lstStyle/>
          <a:p>
            <a:pPr algn="just"/>
            <a:r>
              <a:rPr lang="es-MX" b="1" dirty="0"/>
              <a:t>En este paso trabajamos con el archivo index.js, donde se encuentra el código principal de nuestra API. Utilizamos Node.js junto con Express para configurar el servidor y la librería </a:t>
            </a:r>
            <a:r>
              <a:rPr lang="es-MX" b="1" dirty="0" err="1"/>
              <a:t>pg</a:t>
            </a:r>
            <a:r>
              <a:rPr lang="es-MX" b="1" dirty="0"/>
              <a:t> para establecer la conexión con PostgreSQL. También agregamos las instrucciones SQL necesarias para crear las tablas de productos, ventas y detalle de ventas, donde se almacenará la información de nuestro sistema de inventario. Estas tablas se relacionan entre sí para llevar un mejor control de los productos y las ventas realizadas.</a:t>
            </a:r>
          </a:p>
        </p:txBody>
      </p:sp>
    </p:spTree>
    <p:extLst>
      <p:ext uri="{BB962C8B-B14F-4D97-AF65-F5344CB8AC3E}">
        <p14:creationId xmlns:p14="http://schemas.microsoft.com/office/powerpoint/2010/main" val="1113435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del servidor con Node.js</a:t>
            </a:r>
          </a:p>
        </p:txBody>
      </p:sp>
      <p:pic>
        <p:nvPicPr>
          <p:cNvPr id="8" name="Imagen 7">
            <a:extLst>
              <a:ext uri="{FF2B5EF4-FFF2-40B4-BE49-F238E27FC236}">
                <a16:creationId xmlns:a16="http://schemas.microsoft.com/office/drawing/2014/main" id="{6ACD2530-E5EF-49F6-B20E-C20B8C1343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7224" y="1966526"/>
            <a:ext cx="6070879" cy="3410712"/>
          </a:xfrm>
          <a:prstGeom prst="rect">
            <a:avLst/>
          </a:prstGeom>
        </p:spPr>
      </p:pic>
      <p:sp>
        <p:nvSpPr>
          <p:cNvPr id="10" name="CuadroTexto 9">
            <a:extLst>
              <a:ext uri="{FF2B5EF4-FFF2-40B4-BE49-F238E27FC236}">
                <a16:creationId xmlns:a16="http://schemas.microsoft.com/office/drawing/2014/main" id="{AD91C143-6DB3-42AA-876C-1C0D27A380C1}"/>
              </a:ext>
            </a:extLst>
          </p:cNvPr>
          <p:cNvSpPr txBox="1"/>
          <p:nvPr/>
        </p:nvSpPr>
        <p:spPr>
          <a:xfrm>
            <a:off x="6736976" y="1882728"/>
            <a:ext cx="4616824" cy="2862322"/>
          </a:xfrm>
          <a:prstGeom prst="rect">
            <a:avLst/>
          </a:prstGeom>
          <a:noFill/>
        </p:spPr>
        <p:txBody>
          <a:bodyPr wrap="square">
            <a:spAutoFit/>
          </a:bodyPr>
          <a:lstStyle/>
          <a:p>
            <a:pPr algn="just"/>
            <a:r>
              <a:rPr lang="es-MX" b="1" dirty="0"/>
              <a:t>En este paso abrimos la terminal de Visual Studio </a:t>
            </a:r>
            <a:r>
              <a:rPr lang="es-MX" b="1" dirty="0" err="1"/>
              <a:t>Code</a:t>
            </a:r>
            <a:r>
              <a:rPr lang="es-MX" b="1" dirty="0"/>
              <a:t> y ejecutamos el comando </a:t>
            </a:r>
            <a:r>
              <a:rPr lang="es-MX" b="1" dirty="0" err="1"/>
              <a:t>node</a:t>
            </a:r>
            <a:r>
              <a:rPr lang="es-MX" b="1" dirty="0"/>
              <a:t> index.js para iniciar nuestro servidor. Al realizarlo, nos apareció un mensaje indicando que el servidor estaba funcionando correctamente en el puerto 3000. También se verificó la conexión con PostgreSQL y la creación de las tablas necesarias para almacenar los productos y las ventas de nuestro sistema de inventario.</a:t>
            </a:r>
          </a:p>
        </p:txBody>
      </p:sp>
    </p:spTree>
    <p:extLst>
      <p:ext uri="{BB962C8B-B14F-4D97-AF65-F5344CB8AC3E}">
        <p14:creationId xmlns:p14="http://schemas.microsoft.com/office/powerpoint/2010/main" val="418654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Visualización de productos en PostgreSQL mediante </a:t>
            </a:r>
            <a:r>
              <a:rPr lang="es-MX" b="1" dirty="0" err="1"/>
              <a:t>pgAdmin</a:t>
            </a:r>
            <a:r>
              <a:rPr lang="es-MX" b="1" dirty="0"/>
              <a:t> 4</a:t>
            </a:r>
          </a:p>
        </p:txBody>
      </p:sp>
      <p:pic>
        <p:nvPicPr>
          <p:cNvPr id="8" name="Imagen 7">
            <a:extLst>
              <a:ext uri="{FF2B5EF4-FFF2-40B4-BE49-F238E27FC236}">
                <a16:creationId xmlns:a16="http://schemas.microsoft.com/office/drawing/2014/main" id="{6ACD2530-E5EF-49F6-B20E-C20B8C1343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0041" y="1966526"/>
            <a:ext cx="6065245" cy="3410712"/>
          </a:xfrm>
          <a:prstGeom prst="rect">
            <a:avLst/>
          </a:prstGeom>
        </p:spPr>
      </p:pic>
      <p:sp>
        <p:nvSpPr>
          <p:cNvPr id="10" name="CuadroTexto 9">
            <a:extLst>
              <a:ext uri="{FF2B5EF4-FFF2-40B4-BE49-F238E27FC236}">
                <a16:creationId xmlns:a16="http://schemas.microsoft.com/office/drawing/2014/main" id="{AD91C143-6DB3-42AA-876C-1C0D27A380C1}"/>
              </a:ext>
            </a:extLst>
          </p:cNvPr>
          <p:cNvSpPr txBox="1"/>
          <p:nvPr/>
        </p:nvSpPr>
        <p:spPr>
          <a:xfrm>
            <a:off x="6736976" y="1882728"/>
            <a:ext cx="4616824" cy="3416320"/>
          </a:xfrm>
          <a:prstGeom prst="rect">
            <a:avLst/>
          </a:prstGeom>
          <a:noFill/>
        </p:spPr>
        <p:txBody>
          <a:bodyPr wrap="square">
            <a:spAutoFit/>
          </a:bodyPr>
          <a:lstStyle/>
          <a:p>
            <a:pPr algn="just"/>
            <a:r>
              <a:rPr lang="es-MX" b="1" dirty="0"/>
              <a:t>En este paso utilizamos </a:t>
            </a:r>
            <a:r>
              <a:rPr lang="es-MX" b="1" dirty="0" err="1"/>
              <a:t>pgAdmin</a:t>
            </a:r>
            <a:r>
              <a:rPr lang="es-MX" b="1" dirty="0"/>
              <a:t> 4 para revisar la información almacenada en nuestra base de datos PostgreSQL. Ingresamos a la base de datos </a:t>
            </a:r>
            <a:r>
              <a:rPr lang="es-MX" b="1" dirty="0" err="1"/>
              <a:t>gym_db</a:t>
            </a:r>
            <a:r>
              <a:rPr lang="es-MX" b="1" dirty="0"/>
              <a:t> y seleccionamos la tabla productos, donde pudimos observar los registros guardados mediante nuestra API. También realizamos una consulta SQL para visualizar los datos del producto, como su nombre, precio, cantidad disponible y stock mínimo. De esta manera comprobamos que la información se estaba almacenando correctamente en nuestra base de datos.</a:t>
            </a:r>
          </a:p>
        </p:txBody>
      </p:sp>
    </p:spTree>
    <p:extLst>
      <p:ext uri="{BB962C8B-B14F-4D97-AF65-F5344CB8AC3E}">
        <p14:creationId xmlns:p14="http://schemas.microsoft.com/office/powerpoint/2010/main" val="92833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CONCLUSIÓN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lnSpcReduction="10000"/>
          </a:bodyPr>
          <a:lstStyle/>
          <a:p>
            <a:pPr marL="0" indent="0" algn="just">
              <a:buNone/>
            </a:pPr>
            <a:r>
              <a:rPr lang="es-MX" dirty="0"/>
              <a:t>	Durante esta práctica aprendimos cómo funciona una API REST y cómo podemos conectarla con una base de datos utilizando Node.js, Express y PostgreSQL. También trabajamos con Visual Studio </a:t>
            </a:r>
            <a:r>
              <a:rPr lang="es-MX" dirty="0" err="1"/>
              <a:t>Code</a:t>
            </a:r>
            <a:r>
              <a:rPr lang="es-MX" dirty="0"/>
              <a:t> para configurar nuestro proyecto y ejecutar el servidor, lo que nos permitió comprender mejor cómo se maneja la información dentro de un sistema de inventario.</a:t>
            </a:r>
          </a:p>
          <a:p>
            <a:pPr marL="0" indent="0" algn="just">
              <a:buNone/>
            </a:pPr>
            <a:r>
              <a:rPr lang="es-MX" dirty="0"/>
              <a:t>Además, utilizamos </a:t>
            </a:r>
            <a:r>
              <a:rPr lang="es-MX" dirty="0" err="1"/>
              <a:t>pgAdmin</a:t>
            </a:r>
            <a:r>
              <a:rPr lang="es-MX" dirty="0"/>
              <a:t> 4 para visualizar las tablas y comprobar que los productos se almacenaban correctamente en la base de datos. Esta actividad nos ayudó a reforzar nuestros conocimientos sobre las bases de datos y a entender cómo se relacionan con la programación, ya que pudimos observar cómo los datos se pueden registrar, consultar y modificar mediante nuestra API.</a:t>
            </a:r>
          </a:p>
          <a:p>
            <a:pPr marL="0" indent="0" algn="just">
              <a:buNone/>
            </a:pPr>
            <a:endParaRPr lang="en-US" dirty="0"/>
          </a:p>
        </p:txBody>
      </p:sp>
    </p:spTree>
    <p:extLst>
      <p:ext uri="{BB962C8B-B14F-4D97-AF65-F5344CB8AC3E}">
        <p14:creationId xmlns:p14="http://schemas.microsoft.com/office/powerpoint/2010/main" val="3843626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FUENTES DE INFORMACIÓN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a:buFont typeface="Arial" panose="020B0604020202020204" pitchFamily="34" charset="0"/>
              <a:buChar char="•"/>
            </a:pPr>
            <a:r>
              <a:rPr lang="es-MX" dirty="0"/>
              <a:t>	</a:t>
            </a:r>
            <a:r>
              <a:rPr lang="en-US" dirty="0"/>
              <a:t>Node.js. (s. f.). </a:t>
            </a:r>
            <a:r>
              <a:rPr lang="en-US" i="1" dirty="0" err="1"/>
              <a:t>Introducción</a:t>
            </a:r>
            <a:r>
              <a:rPr lang="en-US" i="1" dirty="0"/>
              <a:t> a Node.js</a:t>
            </a:r>
            <a:r>
              <a:rPr lang="en-US" dirty="0"/>
              <a:t>. </a:t>
            </a:r>
            <a:r>
              <a:rPr lang="en-US" dirty="0">
                <a:hlinkClick r:id="rId3"/>
              </a:rPr>
              <a:t>https://nodejs.org/learn/getting-started/introduction-to-nodejs</a:t>
            </a:r>
            <a:endParaRPr lang="en-US" dirty="0"/>
          </a:p>
          <a:p>
            <a:pPr>
              <a:buFont typeface="Arial" panose="020B0604020202020204" pitchFamily="34" charset="0"/>
              <a:buChar char="•"/>
            </a:pPr>
            <a:r>
              <a:rPr lang="en-US" dirty="0"/>
              <a:t>Express.js. (s. f.). </a:t>
            </a:r>
            <a:r>
              <a:rPr lang="en-US" i="1" dirty="0" err="1"/>
              <a:t>Guía</a:t>
            </a:r>
            <a:r>
              <a:rPr lang="en-US" i="1" dirty="0"/>
              <a:t> de </a:t>
            </a:r>
            <a:r>
              <a:rPr lang="en-US" i="1" dirty="0" err="1"/>
              <a:t>enrutamiento</a:t>
            </a:r>
            <a:r>
              <a:rPr lang="en-US" i="1" dirty="0"/>
              <a:t> de Express</a:t>
            </a:r>
            <a:r>
              <a:rPr lang="en-US" dirty="0"/>
              <a:t>. </a:t>
            </a:r>
            <a:r>
              <a:rPr lang="en-US" dirty="0">
                <a:hlinkClick r:id="rId4"/>
              </a:rPr>
              <a:t>https://expressjs.com/es/guide/routing/</a:t>
            </a:r>
            <a:endParaRPr lang="en-US" dirty="0"/>
          </a:p>
          <a:p>
            <a:pPr>
              <a:buFont typeface="Arial" panose="020B0604020202020204" pitchFamily="34" charset="0"/>
              <a:buChar char="•"/>
            </a:pPr>
            <a:r>
              <a:rPr lang="en-US" dirty="0"/>
              <a:t>PostgreSQL Global Development Group. (s. f.). </a:t>
            </a:r>
            <a:r>
              <a:rPr lang="en-US" i="1" dirty="0" err="1"/>
              <a:t>Documentación</a:t>
            </a:r>
            <a:r>
              <a:rPr lang="en-US" i="1" dirty="0"/>
              <a:t> </a:t>
            </a:r>
            <a:r>
              <a:rPr lang="en-US" i="1" dirty="0" err="1"/>
              <a:t>oficial</a:t>
            </a:r>
            <a:r>
              <a:rPr lang="en-US" i="1" dirty="0"/>
              <a:t> de PostgreSQL</a:t>
            </a:r>
            <a:r>
              <a:rPr lang="en-US" dirty="0"/>
              <a:t>. </a:t>
            </a:r>
            <a:r>
              <a:rPr lang="en-US" dirty="0">
                <a:hlinkClick r:id="rId5"/>
              </a:rPr>
              <a:t>https://www.postgresql.org/docs/</a:t>
            </a:r>
            <a:endParaRPr lang="en-US" dirty="0"/>
          </a:p>
          <a:p>
            <a:pPr>
              <a:buFont typeface="Arial" panose="020B0604020202020204" pitchFamily="34" charset="0"/>
              <a:buChar char="•"/>
            </a:pPr>
            <a:r>
              <a:rPr lang="en-US" dirty="0" err="1"/>
              <a:t>pgAdmin</a:t>
            </a:r>
            <a:r>
              <a:rPr lang="en-US" dirty="0"/>
              <a:t> Development Team. (s. f.). </a:t>
            </a:r>
            <a:r>
              <a:rPr lang="en-US" i="1" dirty="0" err="1"/>
              <a:t>Documentación</a:t>
            </a:r>
            <a:r>
              <a:rPr lang="en-US" i="1" dirty="0"/>
              <a:t> de </a:t>
            </a:r>
            <a:r>
              <a:rPr lang="en-US" i="1" dirty="0" err="1"/>
              <a:t>pgAdmin</a:t>
            </a:r>
            <a:r>
              <a:rPr lang="en-US" i="1" dirty="0"/>
              <a:t> 4</a:t>
            </a:r>
            <a:r>
              <a:rPr lang="en-US" dirty="0"/>
              <a:t>. </a:t>
            </a:r>
            <a:r>
              <a:rPr lang="en-US" dirty="0">
                <a:hlinkClick r:id="rId6"/>
              </a:rPr>
              <a:t>https://www.pgadmin.org/docs/</a:t>
            </a:r>
            <a:endParaRPr lang="en-US" dirty="0"/>
          </a:p>
          <a:p>
            <a:pPr marL="0" indent="0" algn="just">
              <a:buNone/>
            </a:pPr>
            <a:endParaRPr lang="en-US" dirty="0"/>
          </a:p>
        </p:txBody>
      </p:sp>
    </p:spTree>
    <p:extLst>
      <p:ext uri="{BB962C8B-B14F-4D97-AF65-F5344CB8AC3E}">
        <p14:creationId xmlns:p14="http://schemas.microsoft.com/office/powerpoint/2010/main" val="45366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ENLACE A GIT-HUB</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buNone/>
            </a:pPr>
            <a:endParaRPr lang="en-US" dirty="0"/>
          </a:p>
        </p:txBody>
      </p:sp>
    </p:spTree>
    <p:extLst>
      <p:ext uri="{BB962C8B-B14F-4D97-AF65-F5344CB8AC3E}">
        <p14:creationId xmlns:p14="http://schemas.microsoft.com/office/powerpoint/2010/main" val="2875569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911</Words>
  <Application>Microsoft Office PowerPoint</Application>
  <PresentationFormat>Panorámica</PresentationFormat>
  <Paragraphs>40</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INTRODUCCIÓN</vt:lpstr>
      <vt:lpstr>JUSTIFICACIÓN</vt:lpstr>
      <vt:lpstr>Apertura del proyecto en Visual Studio Code</vt:lpstr>
      <vt:lpstr>Configuración del proyecto en Visual Studio Code</vt:lpstr>
      <vt:lpstr>Programación y conexión de la API con PostgreSQL</vt:lpstr>
      <vt:lpstr>Ejecución del servidor con Node.js</vt:lpstr>
      <vt:lpstr>Visualización de productos en PostgreSQL mediante pgAdmin 4</vt:lpstr>
      <vt:lpstr>CONCLUSIÓN</vt:lpstr>
      <vt:lpstr>FUENTES DE INFORMACIÓN</vt:lpstr>
      <vt:lpstr>ENLACE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5</cp:revision>
  <dcterms:created xsi:type="dcterms:W3CDTF">2026-10-08T19:20:31Z</dcterms:created>
  <dcterms:modified xsi:type="dcterms:W3CDTF">2026-10-09T02:32:08Z</dcterms:modified>
</cp:coreProperties>
</file>